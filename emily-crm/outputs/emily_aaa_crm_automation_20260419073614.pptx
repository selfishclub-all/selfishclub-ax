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-3" b="-3"/>
          <a:stretch/>
        </p:blipFill>
        <p:spPr>
          <a:xfrm>
            <a:off x="8762695" y="2095805"/>
            <a:ext cx="3333902" cy="2667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3813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Selfish Club AX PROJECT · AAA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095805"/>
            <a:ext cx="95253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매일 아침,</a:t>
            </a:r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알림톡을 들고 옵니다 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4038905"/>
            <a:ext cx="9525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"오늘 이 카피로 오후 3시에 보낼까요?"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1695" y="5790895"/>
            <a:ext cx="495605" cy="4956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1695" y="5790895"/>
            <a:ext cx="495605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0005" y="5796382"/>
            <a:ext cx="18004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에밀리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10005" y="6081674"/>
            <a:ext cx="20884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셀피쉬클럽 CRM PM · AAA 크루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763402" y="6048756"/>
            <a:ext cx="9006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2026.04.28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1" b="-401"/>
          <a:stretch/>
        </p:blipFill>
        <p:spPr>
          <a:xfrm>
            <a:off x="0" y="6819595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500" y="2095805"/>
            <a:ext cx="2667305" cy="2667305"/>
          </a:xfrm>
          <a:prstGeom prst="ellipse">
            <a:avLst/>
          </a:prstGeom>
          <a:noFill/>
          <a:ln w="25400">
            <a:solidFill>
              <a:srgbClr val="F4C71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695" y="780898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6054" y="905256"/>
            <a:ext cx="247802" cy="2478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47495" y="571500"/>
            <a:ext cx="99825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여러분은 어떤 메시지를 받고 오셨나요?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1447495" y="1209751"/>
            <a:ext cx="9982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셀피쉬클럽의 CRM 채널별 메시지 흐름을 확인합니다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1695" y="1962302"/>
            <a:ext cx="2495398" cy="3972154"/>
          </a:xfrm>
          <a:prstGeom prst="roundRect">
            <a:avLst>
              <a:gd name="adj" fmla="val 5594"/>
            </a:avLst>
          </a:prstGeom>
          <a:solidFill>
            <a:srgbClr val="F9F9F9"/>
          </a:solidFill>
          <a:ln w="25400">
            <a:solidFill>
              <a:srgbClr val="EAEA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05356" y="2361895"/>
            <a:ext cx="609905" cy="6099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10182" y="2533802"/>
            <a:ext cx="200254" cy="2670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08837" y="3258007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알림톡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009498" y="3819449"/>
            <a:ext cx="2000707" cy="1714500"/>
          </a:xfrm>
          <a:prstGeom prst="roundRect">
            <a:avLst>
              <a:gd name="adj" fmla="val 7111"/>
            </a:avLst>
          </a:prstGeom>
          <a:solidFill>
            <a:srgbClr val="F0F0F0"/>
          </a:solidFill>
          <a:ln w="25400">
            <a:solidFill>
              <a:srgbClr val="CCCCC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76349" y="4429354"/>
            <a:ext cx="267005" cy="2670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08099" y="4695444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486607" y="1962302"/>
            <a:ext cx="2495398" cy="3972154"/>
          </a:xfrm>
          <a:prstGeom prst="roundRect">
            <a:avLst>
              <a:gd name="adj" fmla="val 5594"/>
            </a:avLst>
          </a:prstGeom>
          <a:solidFill>
            <a:srgbClr val="F9F9F9"/>
          </a:solidFill>
          <a:ln w="25400">
            <a:solidFill>
              <a:srgbClr val="EAEA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429354" y="2361895"/>
            <a:ext cx="609905" cy="6099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00346" y="2533802"/>
            <a:ext cx="267005" cy="2670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055364" y="3258007"/>
            <a:ext cx="13661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카플친 배너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3733495" y="3819449"/>
            <a:ext cx="2000707" cy="1714500"/>
          </a:xfrm>
          <a:prstGeom prst="roundRect">
            <a:avLst>
              <a:gd name="adj" fmla="val 7111"/>
            </a:avLst>
          </a:prstGeom>
          <a:solidFill>
            <a:srgbClr val="F0F0F0"/>
          </a:solidFill>
          <a:ln w="25400">
            <a:solidFill>
              <a:srgbClr val="CCCCC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00346" y="4429354"/>
            <a:ext cx="267005" cy="2670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432097" y="4695444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210605" y="1962302"/>
            <a:ext cx="2495398" cy="3972154"/>
          </a:xfrm>
          <a:prstGeom prst="roundRect">
            <a:avLst>
              <a:gd name="adj" fmla="val 5594"/>
            </a:avLst>
          </a:prstGeom>
          <a:solidFill>
            <a:srgbClr val="F9F9F9"/>
          </a:solidFill>
          <a:ln w="25400">
            <a:solidFill>
              <a:srgbClr val="EAEAE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153351" y="2361895"/>
            <a:ext cx="609905" cy="6099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91426" y="2533802"/>
            <a:ext cx="333756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56832" y="3258007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오픈채팅 공지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6458407" y="3819449"/>
            <a:ext cx="2000707" cy="1714500"/>
          </a:xfrm>
          <a:prstGeom prst="roundRect">
            <a:avLst>
              <a:gd name="adj" fmla="val 7111"/>
            </a:avLst>
          </a:prstGeom>
          <a:solidFill>
            <a:srgbClr val="F0F0F0"/>
          </a:solidFill>
          <a:ln w="25400">
            <a:solidFill>
              <a:srgbClr val="CCCCCC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324344" y="4429354"/>
            <a:ext cx="267005" cy="26700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56094" y="4695444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8934602" y="1962302"/>
            <a:ext cx="2495398" cy="3972154"/>
          </a:xfrm>
          <a:prstGeom prst="roundRect">
            <a:avLst>
              <a:gd name="adj" fmla="val 5594"/>
            </a:avLst>
          </a:prstGeom>
          <a:solidFill>
            <a:srgbClr val="F9F9F9"/>
          </a:solidFill>
          <a:ln w="25400">
            <a:solidFill>
              <a:srgbClr val="EAEAEA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9877349" y="2361895"/>
            <a:ext cx="609905" cy="6099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-881" r="-881" t="0" b="0"/>
          <a:stretch/>
        </p:blipFill>
        <p:spPr>
          <a:xfrm>
            <a:off x="10062972" y="2533802"/>
            <a:ext cx="237744" cy="26700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381744" y="3258007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인스타 캐러셀</a:t>
            </a:r>
            <a:endParaRPr lang="en-US" sz="1800" dirty="0"/>
          </a:p>
        </p:txBody>
      </p:sp>
      <p:sp>
        <p:nvSpPr>
          <p:cNvPr id="33" name="Shape 23"/>
          <p:cNvSpPr/>
          <p:nvPr/>
        </p:nvSpPr>
        <p:spPr>
          <a:xfrm>
            <a:off x="9182405" y="3819449"/>
            <a:ext cx="2000707" cy="1714500"/>
          </a:xfrm>
          <a:prstGeom prst="roundRect">
            <a:avLst>
              <a:gd name="adj" fmla="val 7111"/>
            </a:avLst>
          </a:prstGeom>
          <a:solidFill>
            <a:srgbClr val="F0F0F0"/>
          </a:solidFill>
          <a:ln w="25400">
            <a:solidFill>
              <a:srgbClr val="CCCCCC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049256" y="4429354"/>
            <a:ext cx="267005" cy="26700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880092" y="4695444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캡처 자리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761695" y="6219749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채널들은 </a:t>
            </a:r>
            <a:pPr algn="ctr" indent="0" marL="0">
              <a:buNone/>
            </a:pPr>
            <a:r>
              <a:rPr lang="en-US" sz="1600" b="1" dirty="0">
                <a:solidFill>
                  <a:srgbClr val="EBB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공유회·이벤트</a:t>
            </a:r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열릴 때마다 </a:t>
            </a:r>
            <a:pPr algn="ctr" indent="0" marL="0">
              <a:buNone/>
            </a:pPr>
            <a:r>
              <a:rPr lang="en-US" sz="1600" b="1" dirty="0">
                <a:solidFill>
                  <a:srgbClr val="EBB6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</a:t>
            </a:r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전송됩니다 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598018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461" r="-461" t="0" b="0"/>
          <a:stretch/>
        </p:blipFill>
        <p:spPr>
          <a:xfrm>
            <a:off x="681228" y="722376"/>
            <a:ext cx="237744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1405" y="476402"/>
            <a:ext cx="104397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공유회 한 번 = 6채널에 뿌립니다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181405" y="948233"/>
            <a:ext cx="10439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셀피쉬클럽의 CRM 채널별 발송 현황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" y="1510589"/>
            <a:ext cx="1104869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054" y="1672438"/>
            <a:ext cx="362102" cy="362102"/>
          </a:xfrm>
          <a:prstGeom prst="roundRect">
            <a:avLst>
              <a:gd name="adj" fmla="val 10632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1151" y="1767535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99946" y="1730045"/>
            <a:ext cx="54864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알림톡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909706" y="1687068"/>
            <a:ext cx="1965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11165738" y="1791310"/>
            <a:ext cx="158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71500" y="2310689"/>
            <a:ext cx="1104869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86054" y="2472538"/>
            <a:ext cx="362102" cy="362102"/>
          </a:xfrm>
          <a:prstGeom prst="roundRect">
            <a:avLst>
              <a:gd name="adj" fmla="val 10632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1151" y="2567635"/>
            <a:ext cx="171907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99946" y="2530145"/>
            <a:ext cx="10241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카플친 배너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0909706" y="2487168"/>
            <a:ext cx="1965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1165738" y="2591410"/>
            <a:ext cx="158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71500" y="3110789"/>
            <a:ext cx="1104869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6054" y="3272638"/>
            <a:ext cx="362102" cy="362102"/>
          </a:xfrm>
          <a:prstGeom prst="roundRect">
            <a:avLst>
              <a:gd name="adj" fmla="val 10632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957377" y="3367735"/>
            <a:ext cx="219456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99946" y="3330245"/>
            <a:ext cx="7315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오픈채팅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0532974" y="3287268"/>
            <a:ext cx="1965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10789006" y="3391510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방×3회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71500" y="3910889"/>
            <a:ext cx="1104869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86054" y="4072738"/>
            <a:ext cx="362102" cy="362102"/>
          </a:xfrm>
          <a:prstGeom prst="roundRect">
            <a:avLst>
              <a:gd name="adj" fmla="val 10632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81151" y="4167835"/>
            <a:ext cx="171907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99946" y="4130345"/>
            <a:ext cx="914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온드미디어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0909706" y="4087368"/>
            <a:ext cx="1965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11165738" y="4191610"/>
            <a:ext cx="158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71500" y="4710989"/>
            <a:ext cx="1104869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86054" y="4872838"/>
            <a:ext cx="362102" cy="362102"/>
          </a:xfrm>
          <a:prstGeom prst="roundRect">
            <a:avLst>
              <a:gd name="adj" fmla="val 10632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760" r="-760" t="0" b="0"/>
          <a:stretch/>
        </p:blipFill>
        <p:spPr>
          <a:xfrm>
            <a:off x="990295" y="4967935"/>
            <a:ext cx="152705" cy="17190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399946" y="4930445"/>
            <a:ext cx="9144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인스타그램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10909706" y="4887468"/>
            <a:ext cx="1965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11165738" y="4991710"/>
            <a:ext cx="158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571500" y="5511089"/>
            <a:ext cx="11048695" cy="68580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86054" y="5672938"/>
            <a:ext cx="362102" cy="362102"/>
          </a:xfrm>
          <a:prstGeom prst="roundRect">
            <a:avLst>
              <a:gd name="adj" fmla="val 10632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-1064" r="-1064" t="0" b="0"/>
          <a:stretch/>
        </p:blipFill>
        <p:spPr>
          <a:xfrm>
            <a:off x="957377" y="5768035"/>
            <a:ext cx="219456" cy="171907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399946" y="5730545"/>
            <a:ext cx="7955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UTM 추적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10729570" y="5687568"/>
            <a:ext cx="39319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2400" dirty="0"/>
          </a:p>
        </p:txBody>
      </p:sp>
      <p:sp>
        <p:nvSpPr>
          <p:cNvPr id="43" name="Text 34"/>
          <p:cNvSpPr txBox="1"/>
          <p:nvPr/>
        </p:nvSpPr>
        <p:spPr>
          <a:xfrm>
            <a:off x="11165738" y="5791810"/>
            <a:ext cx="158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571500" y="6483096"/>
            <a:ext cx="11048695" cy="705002"/>
          </a:xfrm>
          <a:prstGeom prst="roundRect">
            <a:avLst>
              <a:gd name="adj" fmla="val 42065"/>
            </a:avLst>
          </a:prstGeom>
          <a:solidFill>
            <a:srgbClr val="F9F9F9"/>
          </a:solidFill>
          <a:ln/>
        </p:spPr>
      </p:sp>
      <p:sp>
        <p:nvSpPr>
          <p:cNvPr id="45" name="Shape 36"/>
          <p:cNvSpPr/>
          <p:nvPr/>
        </p:nvSpPr>
        <p:spPr>
          <a:xfrm>
            <a:off x="571500" y="6483096"/>
            <a:ext cx="57607" cy="705002"/>
          </a:xfrm>
          <a:prstGeom prst="roundRect">
            <a:avLst>
              <a:gd name="adj" fmla="val 514802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rcRect l="-1773" r="-1773" t="0" b="0"/>
          <a:stretch/>
        </p:blipFill>
        <p:spPr>
          <a:xfrm>
            <a:off x="933602" y="6749186"/>
            <a:ext cx="133502" cy="171907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181405" y="6711696"/>
            <a:ext cx="31327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리소스가 </a:t>
            </a:r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많아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자동화를 </a:t>
            </a:r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761695" y="571500"/>
            <a:ext cx="4572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2476195"/>
            <a:ext cx="3314700" cy="3619195"/>
          </a:xfrm>
          <a:prstGeom prst="roundRect">
            <a:avLst>
              <a:gd name="adj" fmla="val 3171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38498" y="2476195"/>
            <a:ext cx="3314700" cy="3619195"/>
          </a:xfrm>
          <a:prstGeom prst="roundRect">
            <a:avLst>
              <a:gd name="adj" fmla="val 3171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15300" y="2476195"/>
            <a:ext cx="3314700" cy="3619195"/>
          </a:xfrm>
          <a:prstGeom prst="roundRect">
            <a:avLst>
              <a:gd name="adj" fmla="val 3171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1695" y="83850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ALIMTALK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181405"/>
            <a:ext cx="10668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75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그중에서도 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'알림톡'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부터 시작했습니다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1143000" y="2857500"/>
            <a:ext cx="609905" cy="6099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775" r="-775" t="0" b="0"/>
          <a:stretch/>
        </p:blipFill>
        <p:spPr>
          <a:xfrm>
            <a:off x="1290218" y="3038551"/>
            <a:ext cx="314554" cy="2478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704795"/>
            <a:ext cx="419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3696005"/>
            <a:ext cx="2553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도달 채널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4190695"/>
            <a:ext cx="25530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셀피쉬클럽 이기적멤버십 회원 6,800+명에게 가장 빠르고 확실하게 닿을 수 있는 핵심 채널입니다.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19802" y="2857500"/>
            <a:ext cx="609905" cy="6099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76" b="-476"/>
          <a:stretch/>
        </p:blipFill>
        <p:spPr>
          <a:xfrm>
            <a:off x="4986223" y="3038551"/>
            <a:ext cx="276149" cy="2478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05802" y="2704795"/>
            <a:ext cx="419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4819802" y="3696005"/>
            <a:ext cx="2553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사전 준비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19802" y="4190695"/>
            <a:ext cx="25530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발송에 필요한 사전 승인 템플릿 9종이 이미 시스템 내부에 완벽히 구축되어 있었습니다.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496605" y="2857500"/>
            <a:ext cx="609905" cy="6099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606" r="-606" t="0" b="0"/>
          <a:stretch/>
        </p:blipFill>
        <p:spPr>
          <a:xfrm>
            <a:off x="8691372" y="3038551"/>
            <a:ext cx="219456" cy="2478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782605" y="2704795"/>
            <a:ext cx="419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8496605" y="3696005"/>
            <a:ext cx="2553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즉시 발송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496605" y="4190695"/>
            <a:ext cx="25530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연동이 지원되어, 복잡한 인프라 작업 없이 바로 자동화 프로세스를 적용할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957377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5002" y="1090879"/>
            <a:ext cx="26700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33195" y="761695"/>
            <a:ext cx="102870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공유회 1번 = 알림톡 9종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1380744"/>
            <a:ext cx="10287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D-7부터 D+3까지, 각각 다른 날·시간·대상에게 발송됩니다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1500" y="5553151"/>
            <a:ext cx="11048695" cy="733349"/>
          </a:xfrm>
          <a:prstGeom prst="roundRect">
            <a:avLst>
              <a:gd name="adj" fmla="val 51818"/>
            </a:avLst>
          </a:prstGeom>
          <a:solidFill>
            <a:srgbClr val="F9F9F9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5553151"/>
            <a:ext cx="57607" cy="733349"/>
          </a:xfrm>
          <a:prstGeom prst="roundRect">
            <a:avLst>
              <a:gd name="adj" fmla="val 659660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580552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14907" y="5553151"/>
            <a:ext cx="619140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-37" kern="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E6B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9종</a:t>
            </a:r>
            <a:pPr algn="l" indent="0" marL="0">
              <a:buNone/>
            </a:pPr>
            <a:r>
              <a:rPr lang="en-US" sz="1500" spc="-37" kern="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월 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E6B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4~6번</a:t>
            </a:r>
            <a:pPr algn="l" indent="0" marL="0">
              <a:buNone/>
            </a:pPr>
            <a:r>
              <a:rPr lang="en-US" sz="1500" spc="-37" kern="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반복하며, 발송마다 대상자 DB 조회 + 카피 확정이 필요합니다 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01" b="-401"/>
          <a:stretch/>
        </p:blipFill>
        <p:spPr>
          <a:xfrm>
            <a:off x="571500" y="3696005"/>
            <a:ext cx="11048695" cy="384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1500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57454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오픈알림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57454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D-7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657454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15:00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804111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889150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오픈리마인드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889150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D-5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889150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035808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121762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D-1 리마인드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3121762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D-1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3121762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268419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354373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당일리마인드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354373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D-day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4354373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14:00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501030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586070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할인쿠폰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586070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D-day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5586070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732727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818681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입장링크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6818681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D-day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6818681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19:00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7965338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051292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시작알림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8051292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D-day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8051292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20:00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9197950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9282989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혜택안내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9282989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D-day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9282989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22:30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10429646" y="3610051"/>
            <a:ext cx="1190549" cy="1047902"/>
          </a:xfrm>
          <a:prstGeom prst="roundRect">
            <a:avLst>
              <a:gd name="adj" fmla="val 19039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10515600" y="3814877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VOD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10515600" y="4062679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D+3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10515600" y="4272077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18:00</a:t>
            </a:r>
            <a:endParaRPr lang="en-US" sz="900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3077" y="2771546"/>
            <a:ext cx="647395" cy="647395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843077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21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075688" y="2771546"/>
            <a:ext cx="647395" cy="647395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2075688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21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07385" y="2771546"/>
            <a:ext cx="647395" cy="647395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3307385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2100" dirty="0"/>
          </a:p>
        </p:txBody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39996" y="2771546"/>
            <a:ext cx="647395" cy="647395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4539996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2100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72607" y="2771546"/>
            <a:ext cx="647395" cy="647395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5772607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endParaRPr lang="en-US" sz="21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004304" y="2771546"/>
            <a:ext cx="647395" cy="647395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7004304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</a:t>
            </a:r>
            <a:endParaRPr lang="en-US" sz="210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36915" y="2771546"/>
            <a:ext cx="647395" cy="647395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8236915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⑦</a:t>
            </a:r>
            <a:endParaRPr lang="en-US" sz="2100" dirty="0"/>
          </a:p>
        </p:txBody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468612" y="2771546"/>
            <a:ext cx="647395" cy="647395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9468612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⑧</a:t>
            </a:r>
            <a:endParaRPr lang="en-US" sz="2100" dirty="0"/>
          </a:p>
        </p:txBody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701223" y="2771546"/>
            <a:ext cx="647395" cy="647395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0701223" y="2771546"/>
            <a:ext cx="6483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⑨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61630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5002" y="749808"/>
            <a:ext cx="26700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5705" y="476402"/>
            <a:ext cx="103254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 전에는 이렇게 일했습니다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1295705" y="1013155"/>
            <a:ext cx="10325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수동으로 처리하던 CRM 업무 프로세스입니다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1500" y="1670609"/>
            <a:ext cx="11048695" cy="6858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054" y="1880006"/>
            <a:ext cx="267005" cy="267005"/>
          </a:xfrm>
          <a:prstGeom prst="roundRect">
            <a:avLst>
              <a:gd name="adj" fmla="val 97847"/>
            </a:avLst>
          </a:prstGeom>
          <a:noFill/>
          <a:ln w="25400">
            <a:solidFill>
              <a:srgbClr val="CCCCC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952805" y="1937614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43254" y="1890065"/>
            <a:ext cx="127741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카피 초안 작성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887054" y="1899209"/>
            <a:ext cx="25859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새로운 카피를 작성하고 검토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11192256" y="1937614"/>
            <a:ext cx="95098" cy="15270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71500" y="2509114"/>
            <a:ext cx="11048695" cy="6858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86054" y="2718511"/>
            <a:ext cx="267005" cy="267005"/>
          </a:xfrm>
          <a:prstGeom prst="roundRect">
            <a:avLst>
              <a:gd name="adj" fmla="val 97847"/>
            </a:avLst>
          </a:prstGeom>
          <a:noFill/>
          <a:ln w="25400">
            <a:solidFill>
              <a:srgbClr val="CCCCC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952805" y="2775204"/>
            <a:ext cx="133502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43254" y="2727655"/>
            <a:ext cx="24496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대상자 DB 쿼리 (Supabase)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9333281" y="2737714"/>
            <a:ext cx="2019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신청자/미신청자 수동 조회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11192256" y="2775204"/>
            <a:ext cx="95098" cy="15270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71500" y="3346704"/>
            <a:ext cx="11048695" cy="6858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86054" y="3557016"/>
            <a:ext cx="267005" cy="267005"/>
          </a:xfrm>
          <a:prstGeom prst="roundRect">
            <a:avLst>
              <a:gd name="adj" fmla="val 97847"/>
            </a:avLst>
          </a:prstGeom>
          <a:noFill/>
          <a:ln w="25400">
            <a:solidFill>
              <a:srgbClr val="CCCCCC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952805" y="3613709"/>
            <a:ext cx="133502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43254" y="3566160"/>
            <a:ext cx="12170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UTM 링크 생성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9321394" y="35753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21개 채널별 파라미터 설정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11192256" y="3613709"/>
            <a:ext cx="95098" cy="15270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571500" y="4185209"/>
            <a:ext cx="11048695" cy="6858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886054" y="4394606"/>
            <a:ext cx="267005" cy="267005"/>
          </a:xfrm>
          <a:prstGeom prst="roundRect">
            <a:avLst>
              <a:gd name="adj" fmla="val 97847"/>
            </a:avLst>
          </a:prstGeom>
          <a:noFill/>
          <a:ln w="25400">
            <a:solidFill>
              <a:srgbClr val="CCCCCC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952805" y="4452214"/>
            <a:ext cx="133502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343254" y="4404665"/>
            <a:ext cx="192024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선택·변수 입력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649310" y="4413809"/>
            <a:ext cx="2805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파트너센터에서 변수 하나씩 붙여넣기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11192256" y="4452214"/>
            <a:ext cx="95098" cy="152705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571500" y="5023714"/>
            <a:ext cx="11048695" cy="6858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886054" y="5233111"/>
            <a:ext cx="267005" cy="267005"/>
          </a:xfrm>
          <a:prstGeom prst="roundRect">
            <a:avLst>
              <a:gd name="adj" fmla="val 97847"/>
            </a:avLst>
          </a:prstGeom>
          <a:noFill/>
          <a:ln w="25400">
            <a:solidFill>
              <a:srgbClr val="CCCCCC"/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952805" y="5289804"/>
            <a:ext cx="133502" cy="152705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343254" y="5242255"/>
            <a:ext cx="2448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 버튼 클릭 (9종 × 매번)</a:t>
            </a:r>
            <a:endParaRPr lang="en-US" sz="1300" dirty="0"/>
          </a:p>
        </p:txBody>
      </p:sp>
      <p:sp>
        <p:nvSpPr>
          <p:cNvPr id="36" name="Text 24"/>
          <p:cNvSpPr txBox="1"/>
          <p:nvPr/>
        </p:nvSpPr>
        <p:spPr>
          <a:xfrm>
            <a:off x="9490558" y="5252314"/>
            <a:ext cx="1860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템플릿별로 수동 발송</a:t>
            </a:r>
            <a:endParaRPr lang="en-US" sz="12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11192256" y="5289804"/>
            <a:ext cx="95098" cy="152705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571500" y="5994806"/>
            <a:ext cx="11048695" cy="733349"/>
          </a:xfrm>
          <a:prstGeom prst="roundRect">
            <a:avLst>
              <a:gd name="adj" fmla="val 38864"/>
            </a:avLst>
          </a:prstGeom>
          <a:solidFill>
            <a:srgbClr val="F9F9F9"/>
          </a:solidFill>
          <a:ln/>
        </p:spPr>
      </p:sp>
      <p:sp>
        <p:nvSpPr>
          <p:cNvPr id="39" name="Shape 26"/>
          <p:cNvSpPr/>
          <p:nvPr/>
        </p:nvSpPr>
        <p:spPr>
          <a:xfrm>
            <a:off x="571500" y="5994806"/>
            <a:ext cx="57607" cy="733349"/>
          </a:xfrm>
          <a:prstGeom prst="roundRect">
            <a:avLst>
              <a:gd name="adj" fmla="val 494745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33602" y="6266383"/>
            <a:ext cx="190195" cy="190195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1257300" y="6223406"/>
            <a:ext cx="31400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공유회 </a:t>
            </a:r>
            <a:pPr algn="l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1건당 이틀</a:t>
            </a:r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걸렸습니다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695" y="771754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6054" y="895198"/>
            <a:ext cx="247802" cy="2478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47495" y="571500"/>
            <a:ext cx="99825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지금은 이렇게 일합니다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1447495" y="1190549"/>
            <a:ext cx="9982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 → Supabase → AI 카피 → Slack 승인 → 카톡 발송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1695" y="1752905"/>
            <a:ext cx="10668305" cy="2657246"/>
          </a:xfrm>
          <a:prstGeom prst="roundRect">
            <a:avLst>
              <a:gd name="adj" fmla="val 3947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48002" y="2143354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FFFFF"/>
          </a:solidFill>
          <a:ln w="25400">
            <a:solidFill>
              <a:srgbClr val="F4C71C"/>
            </a:solidFill>
            <a:prstDash val="solid"/>
          </a:ln>
          <a:effectLst>
            <a:outerShdw sx="100000" sy="100000" kx="0" ky="0" algn="bl" rotWithShape="0" blurRad="114300" dist="38100" dir="16200000">
              <a:srgbClr val="f4c71c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27" r="-27" t="0" b="0"/>
          <a:stretch/>
        </p:blipFill>
        <p:spPr>
          <a:xfrm>
            <a:off x="2014423" y="2352751"/>
            <a:ext cx="428854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6698" y="3019349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936699" y="3356762"/>
            <a:ext cx="5916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스케줄러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3124505" y="2428646"/>
            <a:ext cx="142646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81044" y="2143354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FFFFF"/>
          </a:solidFill>
          <a:ln w="25400">
            <a:solidFill>
              <a:srgbClr val="F4C71C"/>
            </a:solidFill>
            <a:prstDash val="solid"/>
          </a:ln>
          <a:effectLst>
            <a:outerShdw sx="100000" sy="100000" kx="0" ky="0" algn="bl" rotWithShape="0" blurRad="114300" dist="38100" dir="16200000">
              <a:srgbClr val="f4c71c">
                <a:alpha val="1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743" r="-743" t="0" b="0"/>
          <a:stretch/>
        </p:blipFill>
        <p:spPr>
          <a:xfrm>
            <a:off x="4009644" y="2352751"/>
            <a:ext cx="304495" cy="3429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400654" y="3019349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816706" y="3356762"/>
            <a:ext cx="694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대상자 DB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5057546" y="2428646"/>
            <a:ext cx="142646" cy="228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715000" y="2143354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FFFFF"/>
          </a:solidFill>
          <a:ln w="25400">
            <a:solidFill>
              <a:srgbClr val="F4C71C"/>
            </a:solidFill>
            <a:prstDash val="solid"/>
          </a:ln>
          <a:effectLst>
            <a:outerShdw sx="100000" sy="100000" kx="0" ky="0" algn="bl" rotWithShape="0" blurRad="114300" dist="38100" dir="16200000">
              <a:srgbClr val="f4c71c">
                <a:alpha val="15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924398" y="2352751"/>
            <a:ext cx="342900" cy="3429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333695" y="3019349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카피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5758891" y="3356762"/>
            <a:ext cx="6803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6991502" y="2428646"/>
            <a:ext cx="142646" cy="2286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648956" y="2143354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FFFFF"/>
          </a:solidFill>
          <a:ln w="25400">
            <a:solidFill>
              <a:srgbClr val="F4C71C"/>
            </a:solidFill>
            <a:prstDash val="solid"/>
          </a:ln>
          <a:effectLst>
            <a:outerShdw sx="100000" sy="100000" kx="0" ky="0" algn="bl" rotWithShape="0" blurRad="114300" dist="38100" dir="16200000">
              <a:srgbClr val="f4c71c">
                <a:alpha val="15000"/>
              </a:srgbClr>
            </a:outerShdw>
          </a:effectLst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858354" y="2352751"/>
            <a:ext cx="342900" cy="3429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267651" y="3019349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 승인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7691933" y="3356762"/>
            <a:ext cx="6803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확인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0" b="-80"/>
          <a:stretch/>
        </p:blipFill>
        <p:spPr>
          <a:xfrm>
            <a:off x="8924544" y="2428646"/>
            <a:ext cx="142646" cy="22860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9581998" y="2143354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FFFFF"/>
          </a:solidFill>
          <a:ln w="25400">
            <a:solidFill>
              <a:srgbClr val="F4C71C"/>
            </a:solidFill>
            <a:prstDash val="solid"/>
          </a:ln>
          <a:effectLst>
            <a:outerShdw sx="100000" sy="100000" kx="0" ky="0" algn="bl" rotWithShape="0" blurRad="114300" dist="38100" dir="16200000">
              <a:srgbClr val="f4c71c">
                <a:alpha val="15000"/>
              </a:srgbClr>
            </a:outerShdw>
          </a:effectLst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791395" y="2352751"/>
            <a:ext cx="342900" cy="3429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9201607" y="3019349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카톡 발송</a:t>
            </a:r>
            <a:endParaRPr lang="en-US" sz="1300" dirty="0"/>
          </a:p>
        </p:txBody>
      </p:sp>
      <p:sp>
        <p:nvSpPr>
          <p:cNvPr id="32" name="Text 20"/>
          <p:cNvSpPr txBox="1"/>
          <p:nvPr/>
        </p:nvSpPr>
        <p:spPr>
          <a:xfrm>
            <a:off x="9625889" y="3356762"/>
            <a:ext cx="6803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정시 발송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4819802" y="3852367"/>
            <a:ext cx="95098" cy="9509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2"/>
          <p:cNvSpPr txBox="1"/>
          <p:nvPr/>
        </p:nvSpPr>
        <p:spPr>
          <a:xfrm>
            <a:off x="4991710" y="3785616"/>
            <a:ext cx="2970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워크플로우 실행 중 · 5분 완료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761695" y="4689958"/>
            <a:ext cx="5943600" cy="2200046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1067105" y="4995367"/>
            <a:ext cx="5333695" cy="1152144"/>
          </a:xfrm>
          <a:prstGeom prst="roundRect">
            <a:avLst>
              <a:gd name="adj" fmla="val 15742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659075" y="5342839"/>
            <a:ext cx="457200" cy="4572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3116275" y="4995367"/>
            <a:ext cx="1696212" cy="11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 승인 모달 캡처</a:t>
            </a:r>
            <a:endParaRPr lang="en-US" sz="1500" dirty="0"/>
          </a:p>
        </p:txBody>
      </p:sp>
      <p:sp>
        <p:nvSpPr>
          <p:cNvPr id="39" name="Text 26"/>
          <p:cNvSpPr txBox="1"/>
          <p:nvPr/>
        </p:nvSpPr>
        <p:spPr>
          <a:xfrm>
            <a:off x="2813609" y="6337706"/>
            <a:ext cx="257403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에밀리가 받는 승인 화면 </a:t>
            </a:r>
            <a:endParaRPr lang="en-US" sz="13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565806" y="6376111"/>
            <a:ext cx="171907" cy="171907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6987845" y="4689958"/>
            <a:ext cx="4448556" cy="2200046"/>
          </a:xfrm>
          <a:prstGeom prst="roundRect">
            <a:avLst>
              <a:gd name="adj" fmla="val 4318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2" name="Text 28"/>
          <p:cNvSpPr txBox="1"/>
          <p:nvPr/>
        </p:nvSpPr>
        <p:spPr>
          <a:xfrm>
            <a:off x="7588606" y="5004511"/>
            <a:ext cx="3534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매일 오전 10시 승인 요청 </a:t>
            </a:r>
            <a:endParaRPr lang="en-US" sz="15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302398" y="5047488"/>
            <a:ext cx="190195" cy="190195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7302398" y="5470855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7378294" y="5537606"/>
            <a:ext cx="114300" cy="133502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721194" y="5482742"/>
            <a:ext cx="180594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슬랙에서 </a:t>
            </a:r>
            <a:pPr algn="l" indent="0" marL="0">
              <a:buNone/>
            </a:pPr>
            <a:r>
              <a:rPr lang="en-US" sz="12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받고</a:t>
            </a:r>
            <a:endParaRPr lang="en-US" sz="1200" dirty="0"/>
          </a:p>
        </p:txBody>
      </p:sp>
      <p:sp>
        <p:nvSpPr>
          <p:cNvPr id="47" name="Shape 31"/>
          <p:cNvSpPr/>
          <p:nvPr/>
        </p:nvSpPr>
        <p:spPr>
          <a:xfrm>
            <a:off x="7302398" y="5890565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100" b="-1100"/>
          <a:stretch/>
        </p:blipFill>
        <p:spPr>
          <a:xfrm>
            <a:off x="7378294" y="5957316"/>
            <a:ext cx="114300" cy="133502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7721194" y="5902452"/>
            <a:ext cx="224485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</a:t>
            </a:r>
            <a:pPr algn="l" indent="0" marL="0">
              <a:buNone/>
            </a:pPr>
            <a:r>
              <a:rPr lang="en-US" sz="12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승인만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하면 자동 발송</a:t>
            </a:r>
            <a:endParaRPr lang="en-US" sz="1200" dirty="0"/>
          </a:p>
        </p:txBody>
      </p:sp>
      <p:sp>
        <p:nvSpPr>
          <p:cNvPr id="50" name="Shape 33"/>
          <p:cNvSpPr/>
          <p:nvPr/>
        </p:nvSpPr>
        <p:spPr>
          <a:xfrm>
            <a:off x="7302398" y="6309360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rcRect l="-2512" r="-2512" t="0" b="0"/>
          <a:stretch/>
        </p:blipFill>
        <p:spPr>
          <a:xfrm>
            <a:off x="7382866" y="6376111"/>
            <a:ext cx="105156" cy="133502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7721194" y="6321247"/>
            <a:ext cx="18095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맥북 꺼도 </a:t>
            </a:r>
            <a:pPr algn="l" indent="0" marL="0">
              <a:buNone/>
            </a:pPr>
            <a:r>
              <a:rPr lang="en-US" sz="12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정시에 나감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39005" y="1123798"/>
            <a:ext cx="25246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바뀐 건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16806" y="1447495"/>
            <a:ext cx="296905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 → 5분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33195" y="2686507"/>
            <a:ext cx="3905402" cy="3047695"/>
          </a:xfrm>
          <a:prstGeom prst="roundRect">
            <a:avLst>
              <a:gd name="adj" fmla="val 3750"/>
            </a:avLst>
          </a:prstGeom>
          <a:solidFill>
            <a:srgbClr val="F9F9F9"/>
          </a:solidFill>
          <a:ln w="25400">
            <a:solidFill>
              <a:srgbClr val="EAEA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94660" y="3249778"/>
            <a:ext cx="590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29154" y="3706978"/>
            <a:ext cx="14602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</a:t>
            </a:r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456993" y="4621378"/>
            <a:ext cx="16669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하루 3시간 · 수동 세팅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공유회 1건당 이틀 꼬박 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5896051" y="3981298"/>
            <a:ext cx="400507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53098" y="2686507"/>
            <a:ext cx="3905402" cy="3047695"/>
          </a:xfrm>
          <a:prstGeom prst="roundRect">
            <a:avLst>
              <a:gd name="adj" fmla="val 3750"/>
            </a:avLst>
          </a:prstGeom>
          <a:solidFill>
            <a:srgbClr val="FFFEF5"/>
          </a:solidFill>
          <a:ln w="25400">
            <a:solidFill>
              <a:srgbClr val="F4C7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73084" y="3249778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553298" y="3706978"/>
            <a:ext cx="11137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</a:t>
            </a:r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7753198" y="4621378"/>
            <a:ext cx="23052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하루 5분 · Slack 승인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실수 리스크 → 자동 체크로 방지 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41241" y="2553005"/>
            <a:ext cx="590702" cy="304495"/>
          </a:xfrm>
          <a:prstGeom prst="roundRect">
            <a:avLst>
              <a:gd name="adj" fmla="val 30030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41241" y="2553005"/>
            <a:ext cx="5907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63500" rIns="1778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937699" y="2553005"/>
            <a:ext cx="714146" cy="304495"/>
          </a:xfrm>
          <a:prstGeom prst="roundRect">
            <a:avLst>
              <a:gd name="adj" fmla="val 300300"/>
            </a:avLst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37699" y="2553005"/>
            <a:ext cx="7150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63500" rIns="1778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671170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4205" y="823874"/>
            <a:ext cx="304495" cy="3044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0005" y="571500"/>
            <a:ext cx="10211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두 단계를 말씀드립니다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410005" y="1104595"/>
            <a:ext cx="10211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알림톡 자동화를 만들면서 거친 단계들입니다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571500" y="1762049"/>
            <a:ext cx="5333695" cy="433425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397" r="-397" t="0" b="0"/>
          <a:stretch/>
        </p:blipFill>
        <p:spPr>
          <a:xfrm>
            <a:off x="5838444" y="1772107"/>
            <a:ext cx="57607" cy="431505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1949" y="2171700"/>
            <a:ext cx="81564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6"/>
          <p:cNvSpPr txBox="1"/>
          <p:nvPr/>
        </p:nvSpPr>
        <p:spPr>
          <a:xfrm>
            <a:off x="1894637" y="2152498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894637" y="2419502"/>
            <a:ext cx="233354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구조 짜기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961949" y="3086100"/>
            <a:ext cx="45537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n8n + Supabase + Slack을 조합하여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서버에서 혼자 도는 도구와 사람 승인 관문을 구축했습니다. 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263" r="-263" t="0" b="0"/>
          <a:stretch/>
        </p:blipFill>
        <p:spPr>
          <a:xfrm>
            <a:off x="961949" y="4714646"/>
            <a:ext cx="1580998" cy="43799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33195" y="4714646"/>
            <a:ext cx="12106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 워크플로우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1143000" y="4867351"/>
            <a:ext cx="114300" cy="133502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123" r="-123" t="0" b="0"/>
          <a:stretch/>
        </p:blipFill>
        <p:spPr>
          <a:xfrm>
            <a:off x="2649931" y="4714646"/>
            <a:ext cx="1514246" cy="43799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3021178" y="4714646"/>
            <a:ext cx="11439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DB</a:t>
            </a:r>
            <a:endParaRPr lang="en-US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2830982" y="4867351"/>
            <a:ext cx="114300" cy="133502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-364" r="-364" t="0" b="0"/>
          <a:stretch/>
        </p:blipFill>
        <p:spPr>
          <a:xfrm>
            <a:off x="961949" y="5266944"/>
            <a:ext cx="1276502" cy="43799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333195" y="5266944"/>
            <a:ext cx="905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 승인</a:t>
            </a:r>
            <a:endParaRPr lang="en-US" sz="12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1143000" y="5419649"/>
            <a:ext cx="114300" cy="133502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7" b="-7"/>
          <a:stretch/>
        </p:blipFill>
        <p:spPr>
          <a:xfrm>
            <a:off x="6286500" y="1762049"/>
            <a:ext cx="5333695" cy="4334256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rcRect l="-397" r="-397" t="0" b="0"/>
          <a:stretch/>
        </p:blipFill>
        <p:spPr>
          <a:xfrm>
            <a:off x="11553444" y="1772107"/>
            <a:ext cx="57607" cy="4315054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6676949" y="2171700"/>
            <a:ext cx="81564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800" dirty="0"/>
          </a:p>
        </p:txBody>
      </p:sp>
      <p:sp>
        <p:nvSpPr>
          <p:cNvPr id="26" name="Text 13"/>
          <p:cNvSpPr txBox="1"/>
          <p:nvPr/>
        </p:nvSpPr>
        <p:spPr>
          <a:xfrm>
            <a:off x="7609637" y="2152498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200" dirty="0"/>
          </a:p>
        </p:txBody>
      </p:sp>
      <p:sp>
        <p:nvSpPr>
          <p:cNvPr id="27" name="Text 14"/>
          <p:cNvSpPr txBox="1"/>
          <p:nvPr/>
        </p:nvSpPr>
        <p:spPr>
          <a:xfrm>
            <a:off x="7609637" y="2419502"/>
            <a:ext cx="24451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하네스 엔지니어링</a:t>
            </a:r>
            <a:endParaRPr lang="en-US" sz="2100" dirty="0"/>
          </a:p>
        </p:txBody>
      </p:sp>
      <p:sp>
        <p:nvSpPr>
          <p:cNvPr id="28" name="Text 15"/>
          <p:cNvSpPr txBox="1"/>
          <p:nvPr/>
        </p:nvSpPr>
        <p:spPr>
          <a:xfrm>
            <a:off x="6676949" y="3086100"/>
            <a:ext cx="45537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AI에게 공간·학습·기억을 주는 장치로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규칙을 '읽게' 만들어 실수를 방지합니다. </a:t>
            </a:r>
            <a:endParaRPr lang="en-US" sz="14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rcRect l="-41" r="-41" t="0" b="0"/>
          <a:stretch/>
        </p:blipFill>
        <p:spPr>
          <a:xfrm>
            <a:off x="6676949" y="4714646"/>
            <a:ext cx="1762049" cy="437998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7048195" y="4714646"/>
            <a:ext cx="139171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공간(Scaffolding)</a:t>
            </a:r>
            <a:endParaRPr lang="en-US" sz="120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00" b="-1100"/>
          <a:stretch/>
        </p:blipFill>
        <p:spPr>
          <a:xfrm>
            <a:off x="6858000" y="4867351"/>
            <a:ext cx="114300" cy="133502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rcRect l="-256" r="-256" t="0" b="0"/>
          <a:stretch/>
        </p:blipFill>
        <p:spPr>
          <a:xfrm>
            <a:off x="8552383" y="4714646"/>
            <a:ext cx="1647749" cy="437998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8923630" y="4714646"/>
            <a:ext cx="127741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학습(Feedback)</a:t>
            </a:r>
            <a:endParaRPr lang="en-US" sz="1200" dirty="0"/>
          </a:p>
        </p:txBody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100" b="-1100"/>
          <a:stretch/>
        </p:blipFill>
        <p:spPr>
          <a:xfrm>
            <a:off x="8733434" y="4867351"/>
            <a:ext cx="114300" cy="133502"/>
          </a:xfrm>
          <a:prstGeom prst="rect">
            <a:avLst/>
          </a:prstGeom>
        </p:spPr>
      </p:pic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rcRect l="-311" r="-311" t="0" b="0"/>
          <a:stretch/>
        </p:blipFill>
        <p:spPr>
          <a:xfrm>
            <a:off x="6676949" y="5266944"/>
            <a:ext cx="1514246" cy="437998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7048195" y="5266944"/>
            <a:ext cx="11439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기억(Context)</a:t>
            </a:r>
            <a:endParaRPr lang="en-US" sz="1200" dirty="0"/>
          </a:p>
        </p:txBody>
      </p:sp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100" b="-1100"/>
          <a:stretch/>
        </p:blipFill>
        <p:spPr>
          <a:xfrm>
            <a:off x="6858000" y="5419649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761695" y="571500"/>
            <a:ext cx="4572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2381098"/>
            <a:ext cx="3314700" cy="3429000"/>
          </a:xfrm>
          <a:prstGeom prst="roundRect">
            <a:avLst>
              <a:gd name="adj" fmla="val 3171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38498" y="2381098"/>
            <a:ext cx="3314700" cy="3429000"/>
          </a:xfrm>
          <a:prstGeom prst="roundRect">
            <a:avLst>
              <a:gd name="adj" fmla="val 3171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15300" y="2381098"/>
            <a:ext cx="3314700" cy="3429000"/>
          </a:xfrm>
          <a:prstGeom prst="roundRect">
            <a:avLst>
              <a:gd name="adj" fmla="val 3171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1695" y="905256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TAKEAWAYS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248156"/>
            <a:ext cx="10668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75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가져가실 3가지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1143000" y="2809951"/>
            <a:ext cx="571500" cy="571500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95705" y="2962656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696005"/>
            <a:ext cx="2553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함께 기획하는 법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153205"/>
            <a:ext cx="25530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카피 작업을 AI가 자동으로 생성하도록 기획하는 방법입니다.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19802" y="2809951"/>
            <a:ext cx="571500" cy="571500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71593" y="2962656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4819802" y="3696005"/>
            <a:ext cx="2553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구조 설계하는 법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19802" y="4153205"/>
            <a:ext cx="25530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 + Supabase + Slack을 연결한 자동화 구조를 설계하는 방법입니다.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496605" y="2809951"/>
            <a:ext cx="571500" cy="571500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48395" y="2962656"/>
            <a:ext cx="277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8496605" y="3696005"/>
            <a:ext cx="2553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하네스 엔지니어링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496605" y="4153205"/>
            <a:ext cx="25530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규칙을 '읽게' 만드는 하네스 구조를 설계하는 방법입니다.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61695" y="6143854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한마디로</a:t>
            </a:r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AI에게 </a:t>
            </a:r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잘 시키는 법</a:t>
            </a:r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381305"/>
            <a:ext cx="1819656" cy="304495"/>
          </a:xfrm>
          <a:prstGeom prst="roundRect">
            <a:avLst>
              <a:gd name="adj" fmla="val 30030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381305"/>
            <a:ext cx="18196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/ 자동화 구조 짜기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1500" y="1035101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159459"/>
            <a:ext cx="247802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57300" y="875995"/>
            <a:ext cx="103638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기획하며 부딪힌 두 가지 벽입니다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1257300" y="1413662"/>
            <a:ext cx="10363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알림톡 자동화를 구축하며 마주한 핵심 문제들입니다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1500" y="2071116"/>
            <a:ext cx="11048695" cy="237195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23544" y="2403958"/>
            <a:ext cx="495605" cy="4956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7902" y="2475281"/>
            <a:ext cx="2578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2038198" y="2384755"/>
            <a:ext cx="9229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Claude Code는 맥북이 켜져 있어야 작동했습니다 </a:t>
            </a:r>
            <a:endParaRPr lang="en-US" sz="1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76" b="-476"/>
          <a:stretch/>
        </p:blipFill>
        <p:spPr>
          <a:xfrm>
            <a:off x="1647749" y="2437790"/>
            <a:ext cx="276149" cy="2478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47749" y="2852014"/>
            <a:ext cx="96204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"DB 조회해서 알림톡 발송해줘"라고 Claude Code에게 시켜놓고 퇴근하면, </a:t>
            </a:r>
            <a:pPr algn="l" indent="0" marL="0">
              <a:buNone/>
            </a:pPr>
            <a:r>
              <a:rPr lang="en-US" sz="1300" b="1" dirty="0">
                <a:solidFill>
                  <a:srgbClr val="D1A7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맥북을 닫는 순간 Claude Code가 멈춥니다</a:t>
            </a:r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그래서 알림톡이 발송되지 않고, 멤버들이 공유회 소식을 받지 못하는 상황이 발생했습니다. 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29" r="-29" t="0" b="0"/>
          <a:stretch/>
        </p:blipFill>
        <p:spPr>
          <a:xfrm>
            <a:off x="1647749" y="3587191"/>
            <a:ext cx="9620402" cy="5330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647749" y="3587191"/>
            <a:ext cx="38405" cy="533095"/>
          </a:xfrm>
          <a:prstGeom prst="roundRect">
            <a:avLst>
              <a:gd name="adj" fmla="val 680269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219249" y="3587191"/>
            <a:ext cx="9048902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52400" rIns="190500" bIns="152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깨달은 것: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서버에서 혼자 도는 도구가 필요 → n8n 등장 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1876349" y="3787445"/>
            <a:ext cx="114300" cy="15270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71500" y="4663440"/>
            <a:ext cx="11048695" cy="2371954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23544" y="4997196"/>
            <a:ext cx="495605" cy="49560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047902" y="5068519"/>
            <a:ext cx="2578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2076602" y="4977994"/>
            <a:ext cx="919154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완전 자동 발송은 리스크가 컸습니다 </a:t>
            </a:r>
            <a:endParaRPr lang="en-US" sz="1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-775" r="-775" t="0" b="0"/>
          <a:stretch/>
        </p:blipFill>
        <p:spPr>
          <a:xfrm>
            <a:off x="1647749" y="5030114"/>
            <a:ext cx="314554" cy="2478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47749" y="5444338"/>
            <a:ext cx="96204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크론으로 시간 맞춰 자동 발송하면 편리하지만, </a:t>
            </a:r>
            <a:pPr algn="l" indent="0" marL="0">
              <a:buNone/>
            </a:pPr>
            <a:r>
              <a:rPr lang="en-US" sz="1300" b="1" dirty="0">
                <a:solidFill>
                  <a:srgbClr val="D1A7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카피 오타 하나로 100명이 민원</a:t>
            </a:r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넣거나 줌링크를 잘못 넣으면 라이브가 망가지는 상황이 발생했습니다. 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-29" r="-29" t="0" b="0"/>
          <a:stretch/>
        </p:blipFill>
        <p:spPr>
          <a:xfrm>
            <a:off x="1647749" y="6179515"/>
            <a:ext cx="9620402" cy="533095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647749" y="6179515"/>
            <a:ext cx="38405" cy="533095"/>
          </a:xfrm>
          <a:prstGeom prst="roundRect">
            <a:avLst>
              <a:gd name="adj" fmla="val 680269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2219249" y="6179515"/>
            <a:ext cx="9048902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52400" rIns="190500" bIns="1524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깨달은 것:</a:t>
            </a:r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보내기 전엔 사람이 한 번 봐야 해 → Slack 승인 모달 등장 </a:t>
            </a:r>
            <a:endParaRPr lang="en-US" sz="12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1876349" y="6379769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761695" y="571500"/>
            <a:ext cx="4572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2286000"/>
            <a:ext cx="3429000" cy="3619195"/>
          </a:xfrm>
          <a:prstGeom prst="roundRect">
            <a:avLst>
              <a:gd name="adj" fmla="val 2370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1805" y="2286000"/>
            <a:ext cx="3429000" cy="3619195"/>
          </a:xfrm>
          <a:prstGeom prst="roundRect">
            <a:avLst>
              <a:gd name="adj" fmla="val 2370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01000" y="2286000"/>
            <a:ext cx="3429000" cy="3619195"/>
          </a:xfrm>
          <a:prstGeom prst="roundRect">
            <a:avLst>
              <a:gd name="adj" fmla="val 2370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1695" y="838505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/ 자동화 구조 짜기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104595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75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</a:t>
            </a:r>
            <a:pPr algn="l" indent="0" marL="0">
              <a:buNone/>
            </a:pPr>
            <a:r>
              <a:rPr lang="en-US" sz="3000" b="1" spc="-75" kern="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도구</a:t>
            </a:r>
            <a:pPr algn="l" indent="0" marL="0">
              <a:buNone/>
            </a:pPr>
            <a:r>
              <a:rPr lang="en-US" sz="3000" b="1" spc="-75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조합했습니다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143000" y="2667305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95705" y="2819095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3429000"/>
            <a:ext cx="2667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3847795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스케줄러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4267505"/>
            <a:ext cx="2667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맥북이 꺼져도 혼자 돌아갑니다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62195" y="2667305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4929530" y="2819095"/>
            <a:ext cx="200254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62195" y="3429000"/>
            <a:ext cx="2667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762195" y="3847795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대상자 DB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762195" y="4267505"/>
            <a:ext cx="29525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신청자·미신청자를 자동으로 조회합니다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382305" y="2667305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8505749" y="2819095"/>
            <a:ext cx="286207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82305" y="3429000"/>
            <a:ext cx="2667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382305" y="3847795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관문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8382305" y="4267505"/>
            <a:ext cx="2667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한 번 확인해야 발송됩니다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119726" y="6377026"/>
            <a:ext cx="19595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8" kern="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셋이 각자 역할을 나눕니다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567842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775" r="-775" t="0" b="0"/>
          <a:stretch/>
        </p:blipFill>
        <p:spPr>
          <a:xfrm>
            <a:off x="662026" y="691286"/>
            <a:ext cx="314554" cy="2478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57300" y="476402"/>
            <a:ext cx="10363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/ 하네스 엔지니어링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57300" y="743407"/>
            <a:ext cx="103638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하네스 = AI에게 공간·학습·기억을 주는 장치입니다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71500" y="1535278"/>
            <a:ext cx="11048695" cy="875995"/>
          </a:xfrm>
          <a:prstGeom prst="roundRect">
            <a:avLst>
              <a:gd name="adj" fmla="val 27231"/>
            </a:avLst>
          </a:prstGeom>
          <a:solidFill>
            <a:srgbClr val="F9F9F9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535278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72007" y="1802282"/>
            <a:ext cx="106262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규칙을 읽고</a:t>
            </a:r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작업할 수 있도록,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실수를 박제해</a:t>
            </a:r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재발을 막고, 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잊어도 남는</a:t>
            </a:r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외장 하드를 구축하는 구조 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" y="2670962"/>
            <a:ext cx="11048695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6054" y="2908706"/>
            <a:ext cx="342900" cy="342900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054" y="290870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380744" y="2927909"/>
            <a:ext cx="4471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409444" y="2942539"/>
            <a:ext cx="8897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기술적으로 강제합니다 (린터·hook·API로 아예 어기지 못하게) 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" y="3642055"/>
            <a:ext cx="11048695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6054" y="3880714"/>
            <a:ext cx="342900" cy="342900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054" y="3880714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80744" y="3899916"/>
            <a:ext cx="4471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409444" y="3913632"/>
            <a:ext cx="8897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실수를 박제해 재발을 막습니다 (feedback 파일로 삽질 교훈 기록) 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71500" y="4614062"/>
            <a:ext cx="11048695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054" y="4851806"/>
            <a:ext cx="342900" cy="342900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054" y="485180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380744" y="4871009"/>
            <a:ext cx="4471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2409444" y="4885639"/>
            <a:ext cx="8897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AI의 외장 하드를 만듭니다 (CLAUDE.md + PRD + 에이전트 md) 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71500" y="5699455"/>
            <a:ext cx="11048695" cy="761695"/>
          </a:xfrm>
          <a:prstGeom prst="roundRect">
            <a:avLst>
              <a:gd name="adj" fmla="val 36014"/>
            </a:avLst>
          </a:prstGeom>
          <a:solidFill>
            <a:srgbClr val="F9F9F9"/>
          </a:solidFill>
          <a:ln/>
        </p:spPr>
      </p:sp>
      <p:sp>
        <p:nvSpPr>
          <p:cNvPr id="27" name="Shape 24"/>
          <p:cNvSpPr/>
          <p:nvPr/>
        </p:nvSpPr>
        <p:spPr>
          <a:xfrm>
            <a:off x="571500" y="5699455"/>
            <a:ext cx="57607" cy="761695"/>
          </a:xfrm>
          <a:prstGeom prst="roundRect">
            <a:avLst>
              <a:gd name="adj" fmla="val 476192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2007" y="5966460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352398" y="5699455"/>
            <a:ext cx="3324758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요소가 </a:t>
            </a:r>
            <a:pPr algn="l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순환하며</a:t>
            </a:r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품질을 </a:t>
            </a:r>
            <a:pPr algn="l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</a:t>
            </a:r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 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695" y="476402"/>
            <a:ext cx="780898" cy="304495"/>
          </a:xfrm>
          <a:prstGeom prst="roundRect">
            <a:avLst>
              <a:gd name="adj" fmla="val 75075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476402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38100" rIns="1397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56893" y="514807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하네스 엔지니어링 · 공간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895198"/>
            <a:ext cx="82186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— 규칙을 기술적으로 강제합니다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429207"/>
            <a:ext cx="60295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승인된 템플릿, 승인 관문, 린터·hook로 규칙 미준수를 차단합니다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1695" y="2085746"/>
            <a:ext cx="10668305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6249" y="2314346"/>
            <a:ext cx="495605" cy="495605"/>
          </a:xfrm>
          <a:prstGeom prst="roundRect">
            <a:avLst>
              <a:gd name="adj" fmla="val 5677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09751" y="2447849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762049" y="2305202"/>
            <a:ext cx="8554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승인된 템플릿만 발송 가능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762049" y="2590495"/>
            <a:ext cx="8554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SOLAPI 사전 승인된 9종 템플릿 외 발송 차단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307117" y="2447849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활성화됨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10963656" y="2476195"/>
            <a:ext cx="152705" cy="17190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61695" y="3228746"/>
            <a:ext cx="10668305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76249" y="3457346"/>
            <a:ext cx="495605" cy="495605"/>
          </a:xfrm>
          <a:prstGeom prst="roundRect">
            <a:avLst>
              <a:gd name="adj" fmla="val 5677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1224382" y="3590849"/>
            <a:ext cx="200254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62049" y="3448202"/>
            <a:ext cx="8554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 승인 없으면 발송 차단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762049" y="3733495"/>
            <a:ext cx="8554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승인 모달을 거치지 않으면 발송되지 않음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0307117" y="3590849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활성화됨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10963656" y="3619195"/>
            <a:ext cx="152705" cy="171907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61695" y="4371746"/>
            <a:ext cx="10668305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76249" y="4600346"/>
            <a:ext cx="495605" cy="495605"/>
          </a:xfrm>
          <a:prstGeom prst="roundRect">
            <a:avLst>
              <a:gd name="adj" fmla="val 5677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1181405" y="4733849"/>
            <a:ext cx="286207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62049" y="4591202"/>
            <a:ext cx="8554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린터·hook로 규칙 미준수 차단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762049" y="4876495"/>
            <a:ext cx="8554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pre-commit hook으로 커밋 전 자동 체크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307117" y="4733849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활성화됨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760" r="-760" t="0" b="0"/>
          <a:stretch/>
        </p:blipFill>
        <p:spPr>
          <a:xfrm>
            <a:off x="10963656" y="4762195"/>
            <a:ext cx="152705" cy="171907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61695" y="5514746"/>
            <a:ext cx="10668305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076249" y="5743346"/>
            <a:ext cx="495605" cy="495605"/>
          </a:xfrm>
          <a:prstGeom prst="roundRect">
            <a:avLst>
              <a:gd name="adj" fmla="val 5677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09751" y="5876849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762049" y="5734202"/>
            <a:ext cx="8554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금지어·중복·취소 자동 차단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1762049" y="6019495"/>
            <a:ext cx="8554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"90% 할인" 등 금지어 자동 감지 및 차단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10307117" y="5876849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활성화됨</a:t>
            </a:r>
            <a:endParaRPr lang="en-US" sz="12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760" r="-760" t="0" b="0"/>
          <a:stretch/>
        </p:blipFill>
        <p:spPr>
          <a:xfrm>
            <a:off x="10963656" y="5905195"/>
            <a:ext cx="152705" cy="171907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61695" y="6848856"/>
            <a:ext cx="10668305" cy="733349"/>
          </a:xfrm>
          <a:prstGeom prst="roundRect">
            <a:avLst>
              <a:gd name="adj" fmla="val 38864"/>
            </a:avLst>
          </a:prstGeom>
          <a:solidFill>
            <a:srgbClr val="F9F9F9"/>
          </a:solidFill>
          <a:ln/>
        </p:spPr>
      </p:sp>
      <p:sp>
        <p:nvSpPr>
          <p:cNvPr id="38" name="Shape 28"/>
          <p:cNvSpPr/>
          <p:nvPr/>
        </p:nvSpPr>
        <p:spPr>
          <a:xfrm>
            <a:off x="761695" y="6848856"/>
            <a:ext cx="57607" cy="733349"/>
          </a:xfrm>
          <a:prstGeom prst="roundRect">
            <a:avLst>
              <a:gd name="adj" fmla="val 494745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123798" y="7119518"/>
            <a:ext cx="142646" cy="19019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419149" y="7077456"/>
            <a:ext cx="49459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"지켜주세요"가 아니라 </a:t>
            </a:r>
            <a:pPr algn="l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아예 어기지 못하게</a:t>
            </a:r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만듭니다.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476402"/>
            <a:ext cx="2295144" cy="304495"/>
          </a:xfrm>
          <a:prstGeom prst="roundRect">
            <a:avLst>
              <a:gd name="adj" fmla="val 30030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476402"/>
            <a:ext cx="2296058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/ 하네스 엔지니어링 · 학습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72007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— 실수를 박제해 재발을 막습니다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519733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사례와 교정을 체계적으로 기록해, 동일한 실수가 반복되지 않도록 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2148840"/>
            <a:ext cx="11048695" cy="1133856"/>
          </a:xfrm>
          <a:prstGeom prst="roundRect">
            <a:avLst>
              <a:gd name="adj" fmla="val 1626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248533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3544" y="2485339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9344" y="2424989"/>
            <a:ext cx="9658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사례와 교정을 feedback 파일로 기록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9344" y="2758745"/>
            <a:ext cx="9658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삽질한 경험과 해결 방법을 markdown 파일로 저장해, 다음에 같은 문제가 생기면 AI가 자동으로 참조하도록 합니다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" y="3469234"/>
            <a:ext cx="11048695" cy="1133856"/>
          </a:xfrm>
          <a:prstGeom prst="roundRect">
            <a:avLst>
              <a:gd name="adj" fmla="val 1626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" y="380481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" y="3804818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9344" y="3745382"/>
            <a:ext cx="9658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로그로 실패를 감지해 재실행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9344" y="4078224"/>
            <a:ext cx="9658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 실행 로그를 모니터링해 실패 시 자동 재시도하며, 실패 원인을 분석해 feedback에 반영합니다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1500" y="4788713"/>
            <a:ext cx="11048695" cy="1133856"/>
          </a:xfrm>
          <a:prstGeom prst="roundRect">
            <a:avLst>
              <a:gd name="adj" fmla="val 16265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5125212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" y="5125212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09344" y="5064862"/>
            <a:ext cx="9658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3회 반복 시 자동 박제와 재작업 유도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9344" y="5398618"/>
            <a:ext cx="9658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실수가 3회 반복되면 verifier가 자동으로 feedback 파일 생성을 제안해, 다음 세션에서 자동 회피하도록 합니다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1500" y="6204204"/>
            <a:ext cx="11048695" cy="705002"/>
          </a:xfrm>
          <a:prstGeom prst="roundRect">
            <a:avLst>
              <a:gd name="adj" fmla="val 42065"/>
            </a:avLst>
          </a:prstGeom>
          <a:solidFill>
            <a:srgbClr val="F9F9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" y="6204204"/>
            <a:ext cx="47549" cy="705002"/>
          </a:xfrm>
          <a:prstGeom prst="roundRect">
            <a:avLst>
              <a:gd name="adj" fmla="val 623698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00" b="-600"/>
          <a:stretch/>
        </p:blipFill>
        <p:spPr>
          <a:xfrm>
            <a:off x="923544" y="6452006"/>
            <a:ext cx="181051" cy="20939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238098" y="6204204"/>
            <a:ext cx="2563063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어제의 삽질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내일의 규칙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됩니다 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476402"/>
            <a:ext cx="714146" cy="304495"/>
          </a:xfrm>
          <a:prstGeom prst="roundRect">
            <a:avLst>
              <a:gd name="adj" fmla="val 75075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476402"/>
            <a:ext cx="715061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397203" y="528523"/>
            <a:ext cx="18361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하네스 엔지니어링 · 기억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33602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 — AI의 외장 하드를 만듭니다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508760"/>
            <a:ext cx="11049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세션마다 까먹어도 파일이 대신 기억하게 만드는 구조입니다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" y="2137867"/>
            <a:ext cx="11048695" cy="1133856"/>
          </a:xfrm>
          <a:prstGeom prst="roundRect">
            <a:avLst>
              <a:gd name="adj" fmla="val 16265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054" y="2454250"/>
            <a:ext cx="495605" cy="495605"/>
          </a:xfrm>
          <a:prstGeom prst="roundRect">
            <a:avLst>
              <a:gd name="adj" fmla="val 5677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47902" y="2587752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09344" y="2414016"/>
            <a:ext cx="1124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858414" y="2432304"/>
            <a:ext cx="914400" cy="237744"/>
          </a:xfrm>
          <a:prstGeom prst="roundRect">
            <a:avLst>
              <a:gd name="adj" fmla="val 123077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58414" y="2432304"/>
            <a:ext cx="9144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입구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609344" y="2746858"/>
            <a:ext cx="1103589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AI한테 주는 프로젝트 설명서. 30줄 + 에이전트 맵 + 스크립트 맵을 포함하여 AI가 작업을 시작할 때 참고할 수 있는 규칙 원본(SSOT)을 제공합니다.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500" y="3457346"/>
            <a:ext cx="11048695" cy="1133856"/>
          </a:xfrm>
          <a:prstGeom prst="roundRect">
            <a:avLst>
              <a:gd name="adj" fmla="val 16265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6054" y="3774643"/>
            <a:ext cx="495605" cy="495605"/>
          </a:xfrm>
          <a:prstGeom prst="roundRect">
            <a:avLst>
              <a:gd name="adj" fmla="val 5677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1004926" y="3908146"/>
            <a:ext cx="256946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609344" y="3733495"/>
            <a:ext cx="8823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파일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2540203" y="3752698"/>
            <a:ext cx="1067105" cy="237744"/>
          </a:xfrm>
          <a:prstGeom prst="roundRect">
            <a:avLst>
              <a:gd name="adj" fmla="val 123077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540203" y="3752698"/>
            <a:ext cx="10671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채널별 규칙 분리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609344" y="4067251"/>
            <a:ext cx="9697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알림톡, 카플친, 오픈채팅, 이메일, 인스타, 온드미디어, UTM, DB, 아티팩트 등 각 채널별 규칙을 분리하여 관리합니다.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71500" y="4777740"/>
            <a:ext cx="11048695" cy="1380744"/>
          </a:xfrm>
          <a:prstGeom prst="roundRect">
            <a:avLst>
              <a:gd name="adj" fmla="val 10961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86054" y="5216652"/>
            <a:ext cx="495605" cy="495605"/>
          </a:xfrm>
          <a:prstGeom prst="roundRect">
            <a:avLst>
              <a:gd name="adj" fmla="val 5677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990295" y="5350154"/>
            <a:ext cx="286207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609344" y="5053889"/>
            <a:ext cx="13469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agents/*.md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2907792" y="5073091"/>
            <a:ext cx="914400" cy="237744"/>
          </a:xfrm>
          <a:prstGeom prst="roundRect">
            <a:avLst>
              <a:gd name="adj" fmla="val 123077"/>
            </a:avLst>
          </a:prstGeom>
          <a:solidFill>
            <a:srgbClr val="EEEE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907792" y="5073091"/>
            <a:ext cx="9144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지시문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609344" y="5387645"/>
            <a:ext cx="9697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실무(director, timeline-planner, data-collector, copywriter, media-ops, dispatcher)와 검수(verifier, code-reviewer, session-retro) 역할별 지시문을 파일로 관리합니다.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71500" y="6532474"/>
            <a:ext cx="11048695" cy="629107"/>
          </a:xfrm>
          <a:prstGeom prst="roundRect">
            <a:avLst>
              <a:gd name="adj" fmla="val 35236"/>
            </a:avLst>
          </a:prstGeom>
          <a:solidFill>
            <a:srgbClr val="FFF9E6"/>
          </a:solidFill>
          <a:ln/>
        </p:spPr>
      </p:sp>
      <p:sp>
        <p:nvSpPr>
          <p:cNvPr id="31" name="Shape 26"/>
          <p:cNvSpPr/>
          <p:nvPr/>
        </p:nvSpPr>
        <p:spPr>
          <a:xfrm>
            <a:off x="571500" y="6532474"/>
            <a:ext cx="47549" cy="629107"/>
          </a:xfrm>
          <a:prstGeom prst="roundRect">
            <a:avLst>
              <a:gd name="adj" fmla="val 466199"/>
            </a:avLst>
          </a:prstGeom>
          <a:solidFill>
            <a:srgbClr val="F4C71C"/>
          </a:solidFill>
          <a:ln w="12700">
            <a:solidFill>
              <a:srgbClr val="F4C71C">
                <a:alpha val="0"/>
              </a:srgbClr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7649" y="6749186"/>
            <a:ext cx="190195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71346" y="6532474"/>
            <a:ext cx="454365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저장만 하면 AI는 안 읽습니다.</a:t>
            </a:r>
            <a:pPr algn="l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'어디를 읽어라'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 알려줘야 합니다. 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662026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785470"/>
            <a:ext cx="247802" cy="2478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57300" y="476402"/>
            <a:ext cx="103638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루프가 맞물려 돌아갑니다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257300" y="1067105"/>
            <a:ext cx="10363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→ 검수 → 박제 → 정합성이 순환하며 품질을 유지합니다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1500" y="1723644"/>
            <a:ext cx="5381244" cy="2572207"/>
          </a:xfrm>
          <a:prstGeom prst="roundRect">
            <a:avLst>
              <a:gd name="adj" fmla="val 4213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1500" y="1723644"/>
            <a:ext cx="38405" cy="2544775"/>
          </a:xfrm>
          <a:prstGeom prst="rect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6851" y="20189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947318" y="2124151"/>
            <a:ext cx="219456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43254" y="2072030"/>
            <a:ext cx="124724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루프 A · 실무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379415" y="2042770"/>
            <a:ext cx="286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66851" y="2553005"/>
            <a:ext cx="47914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에밀리 승인 → 재작업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66851" y="2971800"/>
            <a:ext cx="47914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 승인 모달에서 "이거 아닌데" 피드백 → dispatcher가 반려 → copywriter가 재실행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6851" y="3668573"/>
            <a:ext cx="942746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66851" y="3668573"/>
            <a:ext cx="9436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에밀리 승인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1898294" y="3773729"/>
            <a:ext cx="105156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098548" y="3668573"/>
            <a:ext cx="1228954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098548" y="3668573"/>
            <a:ext cx="12289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dispatcher 반려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3418942" y="3773729"/>
            <a:ext cx="105156" cy="1143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619195" y="3668573"/>
            <a:ext cx="657454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619195" y="3668573"/>
            <a:ext cx="6574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재작업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238951" y="1723644"/>
            <a:ext cx="5381244" cy="2572207"/>
          </a:xfrm>
          <a:prstGeom prst="roundRect">
            <a:avLst>
              <a:gd name="adj" fmla="val 4213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38951" y="1723644"/>
            <a:ext cx="38405" cy="2544775"/>
          </a:xfrm>
          <a:prstGeom prst="rect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534302" y="20189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38544" y="2124151"/>
            <a:ext cx="171907" cy="17190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10705" y="2072030"/>
            <a:ext cx="12582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루프 B · 검수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1046866" y="2042770"/>
            <a:ext cx="286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6534302" y="2553005"/>
            <a:ext cx="47914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verifier 린트 → 반려/재작성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6534302" y="2971800"/>
            <a:ext cx="47914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verifier가 규칙 위반 감지 (lint-copy.py) → 작성 에이전트 반려 → 자동 재작업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534302" y="3668573"/>
            <a:ext cx="1104595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534302" y="3668573"/>
            <a:ext cx="11055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위반 감지</a:t>
            </a:r>
            <a:endParaRPr lang="en-US" sz="10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7725766" y="3773729"/>
            <a:ext cx="105156" cy="1143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7926019" y="3668573"/>
            <a:ext cx="1067105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926019" y="3668573"/>
            <a:ext cx="106710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반려</a:t>
            </a:r>
            <a:endParaRPr lang="en-US" sz="10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9080906" y="3773729"/>
            <a:ext cx="105156" cy="114300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9280246" y="3668573"/>
            <a:ext cx="657454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9280246" y="3668573"/>
            <a:ext cx="6574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재작성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571500" y="4573829"/>
            <a:ext cx="5381244" cy="2572207"/>
          </a:xfrm>
          <a:prstGeom prst="roundRect">
            <a:avLst>
              <a:gd name="adj" fmla="val 4213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571500" y="4573829"/>
            <a:ext cx="38405" cy="2544775"/>
          </a:xfrm>
          <a:prstGeom prst="rect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866851" y="486918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72007" y="4973422"/>
            <a:ext cx="171907" cy="171907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343254" y="4921301"/>
            <a:ext cx="12582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루프 C · 박제</a:t>
            </a:r>
            <a:endParaRPr lang="en-US" sz="1500" dirty="0"/>
          </a:p>
        </p:txBody>
      </p:sp>
      <p:sp>
        <p:nvSpPr>
          <p:cNvPr id="45" name="Text 35"/>
          <p:cNvSpPr txBox="1"/>
          <p:nvPr/>
        </p:nvSpPr>
        <p:spPr>
          <a:xfrm>
            <a:off x="5379415" y="4892954"/>
            <a:ext cx="286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866851" y="5402275"/>
            <a:ext cx="47914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실수 → feedback 생성 → 자동 회피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866851" y="5821985"/>
            <a:ext cx="47914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실수 3회 반복 → feedback_*.md 생성 → 에이전트 md 참조 연결 → 다음 세션 자동 회피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866851" y="6518758"/>
            <a:ext cx="771754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866851" y="6518758"/>
            <a:ext cx="77175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3회 실수</a:t>
            </a:r>
            <a:endParaRPr lang="en-US" sz="10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1727302" y="6622999"/>
            <a:ext cx="105156" cy="114300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1927555" y="6518758"/>
            <a:ext cx="1143000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1927555" y="6518758"/>
            <a:ext cx="114300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feedback 생성</a:t>
            </a:r>
            <a:endParaRPr lang="en-US" sz="10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3159252" y="6622999"/>
            <a:ext cx="105156" cy="114300"/>
          </a:xfrm>
          <a:prstGeom prst="rect">
            <a:avLst/>
          </a:prstGeom>
        </p:spPr>
      </p:pic>
      <p:sp>
        <p:nvSpPr>
          <p:cNvPr id="54" name="Shape 42"/>
          <p:cNvSpPr/>
          <p:nvPr/>
        </p:nvSpPr>
        <p:spPr>
          <a:xfrm>
            <a:off x="3359506" y="6518758"/>
            <a:ext cx="819302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3359506" y="6518758"/>
            <a:ext cx="8193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회피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6238951" y="4573829"/>
            <a:ext cx="5381244" cy="2572207"/>
          </a:xfrm>
          <a:prstGeom prst="roundRect">
            <a:avLst>
              <a:gd name="adj" fmla="val 4213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6238951" y="4573829"/>
            <a:ext cx="38405" cy="2544775"/>
          </a:xfrm>
          <a:prstGeom prst="rect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6534302" y="486918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rcRect l="-760" r="-760" t="0" b="0"/>
          <a:stretch/>
        </p:blipFill>
        <p:spPr>
          <a:xfrm>
            <a:off x="6648602" y="4973422"/>
            <a:ext cx="152705" cy="171907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7010705" y="4921301"/>
            <a:ext cx="147401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루프 D · 정합성</a:t>
            </a:r>
            <a:endParaRPr lang="en-US" sz="1500" dirty="0"/>
          </a:p>
        </p:txBody>
      </p:sp>
      <p:sp>
        <p:nvSpPr>
          <p:cNvPr id="61" name="Text 48"/>
          <p:cNvSpPr txBox="1"/>
          <p:nvPr/>
        </p:nvSpPr>
        <p:spPr>
          <a:xfrm>
            <a:off x="11046866" y="4892954"/>
            <a:ext cx="286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62" name="Text 49"/>
          <p:cNvSpPr txBox="1"/>
          <p:nvPr/>
        </p:nvSpPr>
        <p:spPr>
          <a:xfrm>
            <a:off x="6534302" y="5402275"/>
            <a:ext cx="47914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pre-commit → 누락 차단</a:t>
            </a:r>
            <a:endParaRPr lang="en-US" sz="1600" dirty="0"/>
          </a:p>
        </p:txBody>
      </p:sp>
      <p:sp>
        <p:nvSpPr>
          <p:cNvPr id="63" name="Text 50"/>
          <p:cNvSpPr txBox="1"/>
          <p:nvPr/>
        </p:nvSpPr>
        <p:spPr>
          <a:xfrm>
            <a:off x="6534302" y="5821985"/>
            <a:ext cx="47914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시도 → pre-commit hook 린터 실행 → 누락 감지 시 커밋 차단 → 강제 수정 후 재시도</a:t>
            </a:r>
            <a:endParaRPr lang="en-US" sz="1200" dirty="0"/>
          </a:p>
        </p:txBody>
      </p:sp>
      <p:sp>
        <p:nvSpPr>
          <p:cNvPr id="64" name="Shape 51"/>
          <p:cNvSpPr/>
          <p:nvPr/>
        </p:nvSpPr>
        <p:spPr>
          <a:xfrm>
            <a:off x="6534302" y="6518758"/>
            <a:ext cx="819302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5" name="Text 52"/>
          <p:cNvSpPr txBox="1"/>
          <p:nvPr/>
        </p:nvSpPr>
        <p:spPr>
          <a:xfrm>
            <a:off x="6534302" y="6518758"/>
            <a:ext cx="8193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시도</a:t>
            </a:r>
            <a:endParaRPr lang="en-US" sz="1000" dirty="0"/>
          </a:p>
        </p:txBody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7443216" y="6622999"/>
            <a:ext cx="105156" cy="114300"/>
          </a:xfrm>
          <a:prstGeom prst="rect">
            <a:avLst/>
          </a:prstGeom>
        </p:spPr>
      </p:pic>
      <p:sp>
        <p:nvSpPr>
          <p:cNvPr id="67" name="Shape 53"/>
          <p:cNvSpPr/>
          <p:nvPr/>
        </p:nvSpPr>
        <p:spPr>
          <a:xfrm>
            <a:off x="7643470" y="6518758"/>
            <a:ext cx="819302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8" name="Text 54"/>
          <p:cNvSpPr txBox="1"/>
          <p:nvPr/>
        </p:nvSpPr>
        <p:spPr>
          <a:xfrm>
            <a:off x="7643470" y="6518758"/>
            <a:ext cx="8193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린터 실행</a:t>
            </a:r>
            <a:endParaRPr lang="en-US" sz="1000" dirty="0"/>
          </a:p>
        </p:txBody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8552383" y="6622999"/>
            <a:ext cx="105156" cy="114300"/>
          </a:xfrm>
          <a:prstGeom prst="rect">
            <a:avLst/>
          </a:prstGeom>
        </p:spPr>
      </p:pic>
      <p:sp>
        <p:nvSpPr>
          <p:cNvPr id="70" name="Shape 55"/>
          <p:cNvSpPr/>
          <p:nvPr/>
        </p:nvSpPr>
        <p:spPr>
          <a:xfrm>
            <a:off x="8752637" y="6518758"/>
            <a:ext cx="819302" cy="323698"/>
          </a:xfrm>
          <a:prstGeom prst="roundRect">
            <a:avLst>
              <a:gd name="adj" fmla="val 99701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1" name="Text 56"/>
          <p:cNvSpPr txBox="1"/>
          <p:nvPr/>
        </p:nvSpPr>
        <p:spPr>
          <a:xfrm>
            <a:off x="8752637" y="6518758"/>
            <a:ext cx="8193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 차단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761695" y="571500"/>
            <a:ext cx="4572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2095805"/>
            <a:ext cx="3314700" cy="3047695"/>
          </a:xfrm>
          <a:prstGeom prst="roundRect">
            <a:avLst>
              <a:gd name="adj" fmla="val 3000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38498" y="2095805"/>
            <a:ext cx="3314700" cy="3047695"/>
          </a:xfrm>
          <a:prstGeom prst="roundRect">
            <a:avLst>
              <a:gd name="adj" fmla="val 3000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15300" y="2095805"/>
            <a:ext cx="3314700" cy="3047695"/>
          </a:xfrm>
          <a:prstGeom prst="roundRect">
            <a:avLst>
              <a:gd name="adj" fmla="val 3000"/>
            </a:avLst>
          </a:prstGeom>
          <a:solidFill>
            <a:srgbClr val="F9F9F9"/>
          </a:solidFill>
          <a:ln w="12700">
            <a:solidFill>
              <a:srgbClr val="EAEAE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6096305"/>
            <a:ext cx="10668305" cy="91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83850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RECAP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1143000"/>
            <a:ext cx="10668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75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가져가실 </a:t>
            </a:r>
            <a:pPr algn="l" indent="0" marL="0">
              <a:buNone/>
            </a:pPr>
            <a:r>
              <a:rPr lang="en-US" sz="2700" b="1" spc="-75" kern="0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1143000" y="247619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00277" y="2609698"/>
            <a:ext cx="142646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29000" y="236189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124505"/>
            <a:ext cx="2553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기획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514954"/>
            <a:ext cx="25530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함께 기획하는 방법을 배웁니다. Claude를 활용한 아이디어 정리와 구조화.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19802" y="247619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4938674" y="2609698"/>
            <a:ext cx="219456" cy="1901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05802" y="236189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819802" y="3124505"/>
            <a:ext cx="2553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설계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819802" y="3514954"/>
            <a:ext cx="25530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구조를 설계하는 방법을 배웁니다. n8n + Supabase + Slack 조합.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496605" y="2476195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30107" y="2609698"/>
            <a:ext cx="190195" cy="1901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782605" y="236189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EEE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496605" y="3124505"/>
            <a:ext cx="2553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37" kern="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하네스 엔지니어링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496605" y="3514954"/>
            <a:ext cx="25530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규칙을 '읽게' 만드는 방법을 배웁니다. 공간·학습·기억 3요소.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524805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밤, </a:t>
            </a:r>
            <a:pPr algn="l" indent="0" marL="0">
              <a:buNone/>
            </a:pPr>
            <a:r>
              <a:rPr lang="en-US" sz="1300" b="1" dirty="0">
                <a:solidFill>
                  <a:srgbClr val="F4C7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가지를 골라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적용해 보시기 바랍니다.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429207" y="2572207"/>
            <a:ext cx="5715000" cy="5715000"/>
          </a:xfrm>
          <a:prstGeom prst="ellips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2700000">
            <a:off x="952805" y="952805"/>
            <a:ext cx="1354226" cy="135422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8900000">
            <a:off x="9334195" y="5238598"/>
            <a:ext cx="1354226" cy="135422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739896" y="1623974"/>
            <a:ext cx="471556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-1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9" name="Text 5"/>
          <p:cNvSpPr txBox="1"/>
          <p:nvPr/>
        </p:nvSpPr>
        <p:spPr>
          <a:xfrm>
            <a:off x="4449470" y="3062326"/>
            <a:ext cx="33000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들어주셔서 감사합니다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5524805" y="4071823"/>
            <a:ext cx="1143000" cy="5760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279392" y="4700930"/>
            <a:ext cx="533095" cy="533095"/>
          </a:xfrm>
          <a:prstGeom prst="ellipse">
            <a:avLst/>
          </a:prstGeom>
          <a:solidFill>
            <a:srgbClr val="F4C7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881" r="-881" t="0" b="0"/>
          <a:stretch/>
        </p:blipFill>
        <p:spPr>
          <a:xfrm>
            <a:off x="4426610" y="4833518"/>
            <a:ext cx="237744" cy="2670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002682" y="4800600"/>
            <a:ext cx="7315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에밀리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5747918" y="4800600"/>
            <a:ext cx="7955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5926226" y="4800600"/>
            <a:ext cx="213786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셀피쉬클럽 CRM PM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2026-04-19T07:36:13Z</dcterms:created>
  <dcterms:modified xsi:type="dcterms:W3CDTF">2026-04-19T07:36:13Z</dcterms:modified>
</cp:coreProperties>
</file>