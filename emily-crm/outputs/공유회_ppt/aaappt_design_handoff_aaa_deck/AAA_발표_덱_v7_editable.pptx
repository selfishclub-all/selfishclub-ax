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95250" cy="9525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250" y="38100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80">
                <a:solidFill>
                  <a:srgbClr val="888888"/>
                </a:solidFill>
                <a:latin typeface="Pretendard Variable"/>
              </a:rPr>
              <a:t>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1000"/>
            <a:ext cx="762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spc="180">
                <a:solidFill>
                  <a:srgbClr val="888888"/>
                </a:solidFill>
                <a:latin typeface="Pretendard Variable"/>
              </a:rPr>
              <a:t>EMILY · SELFISH CLUB · 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238500"/>
            <a:ext cx="15240000" cy="171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0" b="0" spc="-40">
                <a:solidFill>
                  <a:srgbClr val="0A0A0A"/>
                </a:solidFill>
                <a:latin typeface="Pretendard Variable"/>
              </a:rPr>
              <a:t>매일 아침,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4476750"/>
            <a:ext cx="15240000" cy="171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0" b="1" spc="-40">
                <a:solidFill>
                  <a:srgbClr val="0A0A0A"/>
                </a:solidFill>
                <a:latin typeface="Pretendard Variable"/>
              </a:rPr>
              <a:t>AI가 </a:t>
            </a:r>
            <a:r>
              <a:rPr sz="11000" b="1" spc="-40">
                <a:solidFill>
                  <a:srgbClr val="0A0A0A"/>
                </a:solidFill>
                <a:latin typeface="Pretendard Variable"/>
                <a:highlight>
                  <a:solidFill>
                    <a:srgbClr val="E9ED12"/>
                  </a:solidFill>
                </a:highlight>
              </a:rPr>
              <a:t>알림톡</a:t>
            </a:r>
            <a:r>
              <a:rPr sz="11000" b="1" spc="-40">
                <a:solidFill>
                  <a:srgbClr val="0A0A0A"/>
                </a:solidFill>
                <a:latin typeface="Pretendard Variable"/>
              </a:rPr>
              <a:t>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5715000"/>
            <a:ext cx="15240000" cy="171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0" b="0" spc="-40">
                <a:solidFill>
                  <a:srgbClr val="0A0A0A"/>
                </a:solidFill>
                <a:latin typeface="Pretendard Variable"/>
              </a:rPr>
              <a:t>들고 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8286750"/>
            <a:ext cx="1524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spc="-10">
                <a:solidFill>
                  <a:srgbClr val="A8A8A8"/>
                </a:solidFill>
                <a:latin typeface="Pretendard Variable"/>
              </a:rPr>
              <a:t>에밀리 · 셀피쉬클럽 CRM PM   ·   AAA 공유회 · 2026.04.28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95250" cy="9525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250" y="38100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80">
                <a:solidFill>
                  <a:srgbClr val="888888"/>
                </a:solidFill>
                <a:latin typeface="Pretendard Variable"/>
              </a:rPr>
              <a:t>INTRO · ABOUT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1000"/>
            <a:ext cx="762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spc="180">
                <a:solidFill>
                  <a:srgbClr val="888888"/>
                </a:solidFill>
                <a:latin typeface="Pretendard Variable"/>
              </a:rPr>
              <a:t>EMILY · SELFISH CLUB · 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2095500"/>
            <a:ext cx="8572500" cy="209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0" b="1" spc="-40">
                <a:solidFill>
                  <a:srgbClr val="0A0A0A"/>
                </a:solidFill>
                <a:latin typeface="Pretendard Variable"/>
              </a:rPr>
              <a:t>에밀리</a:t>
            </a:r>
            <a:r>
              <a:rPr sz="14000" b="1" spc="-40">
                <a:solidFill>
                  <a:srgbClr val="E9ED12"/>
                </a:solidFill>
                <a:latin typeface="Pretendard Variable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4476750"/>
            <a:ext cx="857250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0" spc="-20">
                <a:solidFill>
                  <a:srgbClr val="0A0A0A"/>
                </a:solidFill>
                <a:latin typeface="Pretendard Variable"/>
              </a:rPr>
              <a:t>셀피쉬클럽 CRM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5048250"/>
            <a:ext cx="857250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0" spc="-20">
                <a:solidFill>
                  <a:srgbClr val="0A0A0A"/>
                </a:solidFill>
                <a:latin typeface="Pretendard Variable"/>
              </a:rPr>
              <a:t>인하우스 풀스택 마케터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33500" y="6286500"/>
            <a:ext cx="1276350" cy="5143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33500" y="6419850"/>
            <a:ext cx="12763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666666"/>
                </a:solidFill>
                <a:latin typeface="Pretendard Variable"/>
              </a:rPr>
              <a:t>#퍼포먼스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24150" y="6286500"/>
            <a:ext cx="1066800" cy="5143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150" y="6419850"/>
            <a:ext cx="10668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666666"/>
                </a:solidFill>
                <a:latin typeface="Pretendard Variable"/>
              </a:rPr>
              <a:t>#그로스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05250" y="6286500"/>
            <a:ext cx="1066800" cy="5143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05250" y="6419850"/>
            <a:ext cx="10668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666666"/>
                </a:solidFill>
                <a:latin typeface="Pretendard Variable"/>
              </a:rPr>
              <a:t>#ops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6350" y="6286500"/>
            <a:ext cx="1066800" cy="514350"/>
          </a:xfrm>
          <a:prstGeom prst="roundRect">
            <a:avLst>
              <a:gd name="adj" fmla="val 50000"/>
            </a:avLst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86350" y="6419850"/>
            <a:ext cx="10668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3A3B00"/>
                </a:solidFill>
                <a:latin typeface="Pretendard Variable"/>
              </a:rPr>
              <a:t>#효율충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7450" y="6286500"/>
            <a:ext cx="1695450" cy="5143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7450" y="6419850"/>
            <a:ext cx="16954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666666"/>
                </a:solidFill>
                <a:latin typeface="Pretendard Variable"/>
              </a:rPr>
              <a:t>#데이터자동화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87250" y="2095500"/>
            <a:ext cx="4572000" cy="55245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em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250" y="2095500"/>
            <a:ext cx="4572000" cy="55245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515850" y="7143750"/>
            <a:ext cx="190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240">
                <a:solidFill>
                  <a:srgbClr val="FFFFFF"/>
                </a:solidFill>
                <a:latin typeface="Pretendard Variable"/>
              </a:rPr>
              <a:t>EMILY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95250" cy="9525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250" y="38100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80">
                <a:solidFill>
                  <a:srgbClr val="888888"/>
                </a:solidFill>
                <a:latin typeface="Pretendard Variable"/>
              </a:rPr>
              <a:t>INTRO · AAA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1000"/>
            <a:ext cx="762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spc="180">
                <a:solidFill>
                  <a:srgbClr val="888888"/>
                </a:solidFill>
                <a:latin typeface="Pretendard Variable"/>
              </a:rPr>
              <a:t>EMILY · SELFISH CLUB · 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1714500"/>
            <a:ext cx="1333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spc="220">
                <a:solidFill>
                  <a:srgbClr val="777777"/>
                </a:solidFill>
                <a:latin typeface="Pretendard Variable"/>
              </a:rPr>
              <a:t>지난 6주, AAA팀에 있었어요.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286000"/>
            <a:ext cx="1562100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7800" b="1" spc="-40">
                <a:solidFill>
                  <a:srgbClr val="0A0A0A"/>
                </a:solidFill>
                <a:latin typeface="Pretendard Variable"/>
              </a:rPr>
              <a:t>6주 동안 </a:t>
            </a:r>
            <a:r>
              <a:rPr sz="7800" b="1" spc="-40">
                <a:solidFill>
                  <a:srgbClr val="0A0A0A"/>
                </a:solidFill>
                <a:latin typeface="Pretendard Variable"/>
                <a:highlight>
                  <a:solidFill>
                    <a:srgbClr val="E9ED12"/>
                  </a:solidFill>
                </a:highlight>
              </a:rPr>
              <a:t>뭘</a:t>
            </a:r>
            <a:r>
              <a:rPr sz="7800" b="1" spc="-40">
                <a:solidFill>
                  <a:srgbClr val="0A0A0A"/>
                </a:solidFill>
                <a:latin typeface="Pretendard Variable"/>
              </a:rPr>
              <a:t> 했냐면.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3500" y="4762500"/>
            <a:ext cx="5143500" cy="3429000"/>
          </a:xfrm>
          <a:prstGeom prst="roundRect">
            <a:avLst>
              <a:gd name="adj" fmla="val 4444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52600" y="5219700"/>
            <a:ext cx="43053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80">
                <a:solidFill>
                  <a:srgbClr val="888888"/>
                </a:solidFill>
                <a:latin typeface="Pretendard Variable"/>
              </a:rPr>
              <a:t>WHY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2600" y="5715000"/>
            <a:ext cx="43053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spc="-30">
                <a:solidFill>
                  <a:srgbClr val="0A0A0A"/>
                </a:solidFill>
                <a:latin typeface="Pretendard Variable"/>
              </a:rPr>
              <a:t>반복에 쓰는 시간을</a:t>
            </a:r>
          </a:p>
          <a:p>
            <a:pPr algn="l">
              <a:lnSpc>
                <a:spcPct val="130000"/>
              </a:lnSpc>
            </a:pPr>
            <a:r>
              <a:rPr sz="3000" b="0" spc="-30">
                <a:solidFill>
                  <a:srgbClr val="0A0A0A"/>
                </a:solidFill>
                <a:latin typeface="Pretendard Variable"/>
              </a:rPr>
              <a:t>기획에 쓰고 싶어서.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500" y="4762500"/>
            <a:ext cx="5143500" cy="3429000"/>
          </a:xfrm>
          <a:prstGeom prst="roundRect">
            <a:avLst>
              <a:gd name="adj" fmla="val 4444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5219700"/>
            <a:ext cx="43053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80">
                <a:solidFill>
                  <a:srgbClr val="888888"/>
                </a:solidFill>
                <a:latin typeface="Pretendard Variable"/>
              </a:rPr>
              <a:t>WHAT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5715000"/>
            <a:ext cx="43053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spc="-30">
                <a:solidFill>
                  <a:srgbClr val="0A0A0A"/>
                </a:solidFill>
                <a:latin typeface="Pretendard Variable"/>
              </a:rPr>
              <a:t>Claude Code로</a:t>
            </a:r>
          </a:p>
          <a:p>
            <a:pPr algn="l">
              <a:lnSpc>
                <a:spcPct val="130000"/>
              </a:lnSpc>
            </a:pPr>
            <a:r>
              <a:rPr sz="3000" b="0" spc="-30">
                <a:solidFill>
                  <a:srgbClr val="0A0A0A"/>
                </a:solidFill>
                <a:latin typeface="Pretendard Variable"/>
              </a:rPr>
              <a:t>CRM 자동화를 직접.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01500" y="4762500"/>
            <a:ext cx="5143500" cy="3429000"/>
          </a:xfrm>
          <a:prstGeom prst="roundRect">
            <a:avLst>
              <a:gd name="adj" fmla="val 4444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20600" y="5219700"/>
            <a:ext cx="43053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80">
                <a:solidFill>
                  <a:srgbClr val="888888"/>
                </a:solidFill>
                <a:latin typeface="Pretendard Variable"/>
              </a:rPr>
              <a:t>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20600" y="5715000"/>
            <a:ext cx="43053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spc="-30">
                <a:solidFill>
                  <a:srgbClr val="0A0A0A"/>
                </a:solidFill>
                <a:latin typeface="Pretendard Variable"/>
              </a:rPr>
              <a:t>아침 10시,</a:t>
            </a:r>
          </a:p>
          <a:p>
            <a:pPr algn="l">
              <a:lnSpc>
                <a:spcPct val="130000"/>
              </a:lnSpc>
            </a:pPr>
            <a:r>
              <a:rPr sz="3000" b="0" spc="-30">
                <a:solidFill>
                  <a:srgbClr val="0A0A0A"/>
                </a:solidFill>
                <a:latin typeface="Pretendard Variable"/>
              </a:rPr>
              <a:t>슬랙 버튼 하나로 끝.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95250" cy="9525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250" y="38100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80">
                <a:solidFill>
                  <a:srgbClr val="888888"/>
                </a:solidFill>
                <a:latin typeface="Pretendard Variable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1000"/>
            <a:ext cx="762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spc="180">
                <a:solidFill>
                  <a:srgbClr val="888888"/>
                </a:solidFill>
                <a:latin typeface="Pretendard Variable"/>
              </a:rPr>
              <a:t>EMILY · SELFISH CLUB · 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1714500"/>
            <a:ext cx="15621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0" b="1" spc="-40">
                <a:solidFill>
                  <a:srgbClr val="0A0A0A"/>
                </a:solidFill>
                <a:latin typeface="Pretendard Variable"/>
              </a:rPr>
              <a:t>목차</a:t>
            </a:r>
            <a:r>
              <a:rPr sz="9000" b="1" spc="-40">
                <a:solidFill>
                  <a:srgbClr val="E9ED12"/>
                </a:solidFill>
                <a:latin typeface="Pretendard Variable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3810000"/>
            <a:ext cx="7810500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3500" y="4095750"/>
            <a:ext cx="1524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0" spc="-40">
                <a:solidFill>
                  <a:srgbClr val="BBBBBB"/>
                </a:solidFill>
                <a:latin typeface="Pretendard Variable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0" y="409575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220">
                <a:solidFill>
                  <a:srgbClr val="888888"/>
                </a:solidFill>
                <a:latin typeface="Pretendard Variable"/>
              </a:rPr>
              <a:t>지난 여정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8000" y="4381500"/>
            <a:ext cx="5905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spc="-20">
                <a:solidFill>
                  <a:srgbClr val="0A0A0A"/>
                </a:solidFill>
                <a:latin typeface="Pretendard Variable"/>
              </a:rPr>
              <a:t>예전에 제가 일했던 방식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34500" y="3810000"/>
            <a:ext cx="7810500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34500" y="4095750"/>
            <a:ext cx="1524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0" spc="-40">
                <a:solidFill>
                  <a:srgbClr val="BBBBBB"/>
                </a:solidFill>
                <a:latin typeface="Pretendard Variable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9000" y="409575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220">
                <a:solidFill>
                  <a:srgbClr val="888888"/>
                </a:solidFill>
                <a:latin typeface="Pretendard Variable"/>
              </a:rPr>
              <a:t>STEP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0" y="4381500"/>
            <a:ext cx="5905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spc="-20">
                <a:solidFill>
                  <a:srgbClr val="0A0A0A"/>
                </a:solidFill>
                <a:latin typeface="Pretendard Variable"/>
              </a:rPr>
              <a:t>자동화 구조 설계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33500" y="5372100"/>
            <a:ext cx="7810500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33500" y="5657850"/>
            <a:ext cx="1524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0" spc="-40">
                <a:solidFill>
                  <a:srgbClr val="BBBBBB"/>
                </a:solidFill>
                <a:latin typeface="Pretendard Variable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8000" y="565785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220">
                <a:solidFill>
                  <a:srgbClr val="888888"/>
                </a:solidFill>
                <a:latin typeface="Pretendard Variable"/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8000" y="5943600"/>
            <a:ext cx="5905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spc="-20">
                <a:solidFill>
                  <a:srgbClr val="0A0A0A"/>
                </a:solidFill>
                <a:latin typeface="Pretendard Variable"/>
              </a:rPr>
              <a:t>AI한테 내 맥락 심기 · 하네스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34500" y="5372100"/>
            <a:ext cx="7810500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5657850"/>
            <a:ext cx="1524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0" spc="-40">
                <a:solidFill>
                  <a:srgbClr val="BBBBBB"/>
                </a:solidFill>
                <a:latin typeface="Pretendard Variable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49000" y="565785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220">
                <a:solidFill>
                  <a:srgbClr val="888888"/>
                </a:solidFill>
                <a:latin typeface="Pretendard Variable"/>
              </a:rPr>
              <a:t>마무리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49000" y="5943600"/>
            <a:ext cx="5905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spc="-20">
                <a:solidFill>
                  <a:srgbClr val="0A0A0A"/>
                </a:solidFill>
                <a:latin typeface="Pretendard Variable"/>
              </a:rPr>
              <a:t>팀과 일했던 이야기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95250" cy="9525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250" y="38100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80">
                <a:solidFill>
                  <a:srgbClr val="888888"/>
                </a:solidFill>
                <a:latin typeface="Pretendard Variable"/>
              </a:rPr>
              <a:t>TL;DR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1000"/>
            <a:ext cx="762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spc="180">
                <a:solidFill>
                  <a:srgbClr val="888888"/>
                </a:solidFill>
                <a:latin typeface="Pretendard Variable"/>
              </a:rPr>
              <a:t>EMILY · SELFISH CLUB · 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1714500"/>
            <a:ext cx="1333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spc="220">
                <a:solidFill>
                  <a:srgbClr val="777777"/>
                </a:solidFill>
                <a:latin typeface="Pretendard Variable"/>
              </a:rPr>
              <a:t>오늘 제 세션이 끝나면,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286000"/>
            <a:ext cx="156210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0" b="1" spc="-40">
                <a:solidFill>
                  <a:srgbClr val="0A0A0A"/>
                </a:solidFill>
                <a:latin typeface="Pretendard Variable"/>
                <a:highlight>
                  <a:solidFill>
                    <a:srgbClr val="E9ED12"/>
                  </a:solidFill>
                </a:highlight>
              </a:rPr>
              <a:t>가져가실 수 있는 3가지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333500" y="4191000"/>
            <a:ext cx="15621000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33500" y="4476750"/>
            <a:ext cx="1524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0" spc="-40">
                <a:solidFill>
                  <a:srgbClr val="BBBBBB"/>
                </a:solidFill>
                <a:latin typeface="Pretendard Variabl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8000" y="4476750"/>
            <a:ext cx="13906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spc="-20">
                <a:solidFill>
                  <a:srgbClr val="0A0A0A"/>
                </a:solidFill>
                <a:latin typeface="Pretendard Variable"/>
              </a:rPr>
              <a:t>AI랑 같이 기획하는 법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33500" y="5619750"/>
            <a:ext cx="15621000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33500" y="5905500"/>
            <a:ext cx="1524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0" spc="-40">
                <a:solidFill>
                  <a:srgbClr val="BBBBBB"/>
                </a:solidFill>
                <a:latin typeface="Pretendard Variable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8000" y="5905500"/>
            <a:ext cx="13906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spc="-20">
                <a:solidFill>
                  <a:srgbClr val="0A0A0A"/>
                </a:solidFill>
                <a:latin typeface="Pretendard Variable"/>
              </a:rPr>
              <a:t>자동화 구조 설계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33500" y="7048500"/>
            <a:ext cx="15621000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33500" y="7334250"/>
            <a:ext cx="1524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0" spc="-40">
                <a:solidFill>
                  <a:srgbClr val="BBBBBB"/>
                </a:solidFill>
                <a:latin typeface="Pretendard Variable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8000" y="7334250"/>
            <a:ext cx="13906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spc="-20">
                <a:solidFill>
                  <a:srgbClr val="0A0A0A"/>
                </a:solidFill>
                <a:latin typeface="Pretendard Variable"/>
              </a:rPr>
              <a:t>내 규칙을 AI가 읽게 만드는 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95250" cy="9525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250" y="38100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80">
                <a:solidFill>
                  <a:srgbClr val="888888"/>
                </a:solidFill>
                <a:latin typeface="Pretendard Variable"/>
              </a:rPr>
              <a:t>§ 1 · 지난 여정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1000"/>
            <a:ext cx="762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spc="180">
                <a:solidFill>
                  <a:srgbClr val="888888"/>
                </a:solidFill>
                <a:latin typeface="Pretendard Variable"/>
              </a:rPr>
              <a:t>EMILY · SELFISH CLUB · 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1524000"/>
            <a:ext cx="1333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spc="220">
                <a:solidFill>
                  <a:srgbClr val="777777"/>
                </a:solidFill>
                <a:latin typeface="Pretendard Variable"/>
              </a:rPr>
              <a:t>근데 그 전에.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000250"/>
            <a:ext cx="1562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0" spc="-30">
                <a:solidFill>
                  <a:srgbClr val="0A0A0A"/>
                </a:solidFill>
                <a:latin typeface="Pretendard Variable"/>
              </a:rPr>
              <a:t>여러분은 어떤 </a:t>
            </a:r>
            <a:r>
              <a:rPr sz="4400" b="1" spc="-30">
                <a:solidFill>
                  <a:srgbClr val="0A0A0A"/>
                </a:solidFill>
                <a:latin typeface="Pretendard Variable"/>
                <a:highlight>
                  <a:solidFill>
                    <a:srgbClr val="E9ED12"/>
                  </a:solidFill>
                </a:highlight>
              </a:rPr>
              <a:t>채널·메시지</a:t>
            </a:r>
            <a:r>
              <a:rPr sz="4400" b="0" spc="-30">
                <a:solidFill>
                  <a:srgbClr val="0A0A0A"/>
                </a:solidFill>
                <a:latin typeface="Pretendard Variable"/>
              </a:rPr>
              <a:t>를 통해</a:t>
            </a:r>
          </a:p>
          <a:p>
            <a:pPr algn="l">
              <a:lnSpc>
                <a:spcPct val="125000"/>
              </a:lnSpc>
            </a:pPr>
            <a:r>
              <a:rPr sz="4400" b="0" spc="-30">
                <a:solidFill>
                  <a:srgbClr val="0A0A0A"/>
                </a:solidFill>
                <a:latin typeface="Pretendard Variable"/>
              </a:rPr>
              <a:t>이 공유회에 오게 되셨나요?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24000" y="4762500"/>
            <a:ext cx="2476500" cy="4953000"/>
          </a:xfrm>
          <a:prstGeom prst="roundRect">
            <a:avLst>
              <a:gd name="adj" fmla="val 13846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81250" y="4857750"/>
            <a:ext cx="762000" cy="1905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600200" y="4838700"/>
            <a:ext cx="2324100" cy="4800600"/>
          </a:xfrm>
          <a:prstGeom prst="roundRect">
            <a:avLst>
              <a:gd name="adj" fmla="val 1147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limtal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5334000"/>
            <a:ext cx="2247900" cy="41338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24000" y="43815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BBBBB"/>
                </a:solidFill>
                <a:latin typeface="Pretendard Variable"/>
              </a:rPr>
              <a:t>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66900" y="4343400"/>
            <a:ext cx="209550" cy="209550"/>
          </a:xfrm>
          <a:prstGeom prst="roundRect">
            <a:avLst>
              <a:gd name="adj" fmla="val 22727"/>
            </a:avLst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66900" y="4362450"/>
            <a:ext cx="2095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3C1E1E"/>
                </a:solidFill>
                <a:latin typeface="Pretendard Variable"/>
              </a:rPr>
              <a:t>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52650" y="4381500"/>
            <a:ext cx="18478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140">
                <a:solidFill>
                  <a:srgbClr val="0A0A0A"/>
                </a:solidFill>
                <a:latin typeface="Pretendard Variable"/>
              </a:rPr>
              <a:t>알림톡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9100" y="4762500"/>
            <a:ext cx="2476500" cy="4953000"/>
          </a:xfrm>
          <a:prstGeom prst="roundRect">
            <a:avLst>
              <a:gd name="adj" fmla="val 13846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86350" y="4857750"/>
            <a:ext cx="762000" cy="1905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05300" y="4838700"/>
            <a:ext cx="2324100" cy="4800600"/>
          </a:xfrm>
          <a:prstGeom prst="roundRect">
            <a:avLst>
              <a:gd name="adj" fmla="val 1147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kakaopl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5334000"/>
            <a:ext cx="2247900" cy="41338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229100" y="43815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BBBBB"/>
                </a:solidFill>
                <a:latin typeface="Pretendard Variable"/>
              </a:rPr>
              <a:t>02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4343400"/>
            <a:ext cx="209550" cy="209550"/>
          </a:xfrm>
          <a:prstGeom prst="roundRect">
            <a:avLst>
              <a:gd name="adj" fmla="val 22727"/>
            </a:avLst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362450"/>
            <a:ext cx="2095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3C1E1E"/>
                </a:solidFill>
                <a:latin typeface="Pretendard Variable"/>
              </a:rPr>
              <a:t>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57750" y="4381500"/>
            <a:ext cx="18478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140">
                <a:solidFill>
                  <a:srgbClr val="0A0A0A"/>
                </a:solidFill>
                <a:latin typeface="Pretendard Variable"/>
              </a:rPr>
              <a:t>카플친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34200" y="4762500"/>
            <a:ext cx="2476500" cy="4953000"/>
          </a:xfrm>
          <a:prstGeom prst="roundRect">
            <a:avLst>
              <a:gd name="adj" fmla="val 13846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791450" y="4857750"/>
            <a:ext cx="762000" cy="1905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010400" y="4838700"/>
            <a:ext cx="2324100" cy="4800600"/>
          </a:xfrm>
          <a:prstGeom prst="roundRect">
            <a:avLst>
              <a:gd name="adj" fmla="val 1147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nsta_m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5334000"/>
            <a:ext cx="2247900" cy="41338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934200" y="43815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BBBBB"/>
                </a:solidFill>
                <a:latin typeface="Pretendard Variable"/>
              </a:rPr>
              <a:t>03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77100" y="4343400"/>
            <a:ext cx="209550" cy="209550"/>
          </a:xfrm>
          <a:prstGeom prst="roundRect">
            <a:avLst>
              <a:gd name="adj" fmla="val 22727"/>
            </a:avLst>
          </a:prstGeom>
          <a:solidFill>
            <a:srgbClr val="DC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77100" y="4362450"/>
            <a:ext cx="2095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 Variable"/>
              </a:rPr>
              <a:t>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62850" y="4381500"/>
            <a:ext cx="18478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140">
                <a:solidFill>
                  <a:srgbClr val="0A0A0A"/>
                </a:solidFill>
                <a:latin typeface="Pretendard Variable"/>
              </a:rPr>
              <a:t>인스타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39300" y="4762500"/>
            <a:ext cx="2476500" cy="4953000"/>
          </a:xfrm>
          <a:prstGeom prst="roundRect">
            <a:avLst>
              <a:gd name="adj" fmla="val 13846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496550" y="4857750"/>
            <a:ext cx="762000" cy="1905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715500" y="4838700"/>
            <a:ext cx="2324100" cy="4800600"/>
          </a:xfrm>
          <a:prstGeom prst="roundRect">
            <a:avLst>
              <a:gd name="adj" fmla="val 1147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ok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3600" y="5334000"/>
            <a:ext cx="2247900" cy="413385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639300" y="43815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BBBBB"/>
                </a:solidFill>
                <a:latin typeface="Pretendard Variable"/>
              </a:rPr>
              <a:t>04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82200" y="4343400"/>
            <a:ext cx="209550" cy="209550"/>
          </a:xfrm>
          <a:prstGeom prst="roundRect">
            <a:avLst>
              <a:gd name="adj" fmla="val 22727"/>
            </a:avLst>
          </a:prstGeom>
          <a:solidFill>
            <a:srgbClr val="B2C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82200" y="4362450"/>
            <a:ext cx="2095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 Variable"/>
              </a:rPr>
              <a:t>#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67950" y="4381500"/>
            <a:ext cx="18478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140">
                <a:solidFill>
                  <a:srgbClr val="0A0A0A"/>
                </a:solidFill>
                <a:latin typeface="Pretendard Variable"/>
              </a:rPr>
              <a:t>오카방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344400" y="4762500"/>
            <a:ext cx="2476500" cy="4953000"/>
          </a:xfrm>
          <a:prstGeom prst="roundRect">
            <a:avLst>
              <a:gd name="adj" fmla="val 13846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01650" y="4857750"/>
            <a:ext cx="762000" cy="1905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2420600" y="4838700"/>
            <a:ext cx="2324100" cy="4800600"/>
          </a:xfrm>
          <a:prstGeom prst="roundRect">
            <a:avLst>
              <a:gd name="adj" fmla="val 1147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Emai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58700" y="5334000"/>
            <a:ext cx="2247900" cy="413385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2344400" y="43815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BBBBB"/>
                </a:solidFill>
                <a:latin typeface="Pretendard Variable"/>
              </a:rPr>
              <a:t>05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2687300" y="4343400"/>
            <a:ext cx="209550" cy="20955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687300" y="4362450"/>
            <a:ext cx="2095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 Variable"/>
              </a:rPr>
              <a:t>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973050" y="4381500"/>
            <a:ext cx="18478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140">
                <a:solidFill>
                  <a:srgbClr val="0A0A0A"/>
                </a:solidFill>
                <a:latin typeface="Pretendard Variable"/>
              </a:rPr>
              <a:t>이메일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95250" cy="9525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250" y="38100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80">
                <a:solidFill>
                  <a:srgbClr val="888888"/>
                </a:solidFill>
                <a:latin typeface="Pretendard Variable"/>
              </a:rPr>
              <a:t>§ 1 · 지난 여정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1000"/>
            <a:ext cx="762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spc="180">
                <a:solidFill>
                  <a:srgbClr val="888888"/>
                </a:solidFill>
                <a:latin typeface="Pretendard Variable"/>
              </a:rPr>
              <a:t>EMILY · SELFISH CLUB · 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1524000"/>
            <a:ext cx="1333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spc="220">
                <a:solidFill>
                  <a:srgbClr val="777777"/>
                </a:solidFill>
                <a:latin typeface="Pretendard Variable"/>
              </a:rPr>
              <a:t>공유회 1건이 열리면,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000250"/>
            <a:ext cx="1562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0" b="1" spc="-40">
                <a:solidFill>
                  <a:srgbClr val="0A0A0A"/>
                </a:solidFill>
                <a:latin typeface="Pretendard Variable"/>
              </a:rPr>
              <a:t>채널 </a:t>
            </a:r>
            <a:r>
              <a:rPr sz="7800" b="1" u="sng" spc="-40">
                <a:solidFill>
                  <a:srgbClr val="0A0A0A"/>
                </a:solidFill>
                <a:latin typeface="Pretendard Variable"/>
              </a:rPr>
              <a:t>네 개</a:t>
            </a:r>
            <a:r>
              <a:rPr sz="7800" b="1" spc="-40">
                <a:solidFill>
                  <a:srgbClr val="0A0A0A"/>
                </a:solidFill>
                <a:latin typeface="Pretendard Variable"/>
              </a:rPr>
              <a:t>가 동시에 나가요.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3500" y="4381500"/>
            <a:ext cx="3810000" cy="266700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6400" y="4762500"/>
            <a:ext cx="31242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BBBBB"/>
                </a:solidFill>
                <a:latin typeface="Pretendard Variabl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76400" y="5143500"/>
            <a:ext cx="31242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spc="-30">
                <a:solidFill>
                  <a:srgbClr val="0A0A0A"/>
                </a:solidFill>
                <a:latin typeface="Pretendard Variable"/>
              </a:rPr>
              <a:t>알림톡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76400" y="6477000"/>
            <a:ext cx="3124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777777"/>
                </a:solidFill>
                <a:latin typeface="Pretendard Variable"/>
              </a:rPr>
              <a:t>카카오 · 템플릿 9종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34000" y="4381500"/>
            <a:ext cx="3810000" cy="266700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76900" y="4762500"/>
            <a:ext cx="31242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BBBBB"/>
                </a:solidFill>
                <a:latin typeface="Pretendard Variable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76900" y="5143500"/>
            <a:ext cx="31242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spc="-30">
                <a:solidFill>
                  <a:srgbClr val="0A0A0A"/>
                </a:solidFill>
                <a:latin typeface="Pretendard Variable"/>
              </a:rPr>
              <a:t>카플친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76900" y="6477000"/>
            <a:ext cx="3124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777777"/>
                </a:solidFill>
                <a:latin typeface="Pretendard Variable"/>
              </a:rPr>
              <a:t>플러스친구 소식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4500" y="4381500"/>
            <a:ext cx="3810000" cy="266700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77400" y="4762500"/>
            <a:ext cx="31242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BBBBB"/>
                </a:solidFill>
                <a:latin typeface="Pretendard Variable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7400" y="5143500"/>
            <a:ext cx="31242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spc="-30">
                <a:solidFill>
                  <a:srgbClr val="0A0A0A"/>
                </a:solidFill>
                <a:latin typeface="Pretendard Variable"/>
              </a:rPr>
              <a:t>채널톡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77400" y="6477000"/>
            <a:ext cx="3124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777777"/>
                </a:solidFill>
                <a:latin typeface="Pretendard Variable"/>
              </a:rPr>
              <a:t>앱 내 팝업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335000" y="4381500"/>
            <a:ext cx="3810000" cy="266700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677900" y="4762500"/>
            <a:ext cx="31242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BBBBB"/>
                </a:solidFill>
                <a:latin typeface="Pretendard Variable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677900" y="5143500"/>
            <a:ext cx="31242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spc="-30">
                <a:solidFill>
                  <a:srgbClr val="0A0A0A"/>
                </a:solidFill>
                <a:latin typeface="Pretendard Variable"/>
              </a:rPr>
              <a:t>오카방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677900" y="6477000"/>
            <a:ext cx="3124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777777"/>
                </a:solidFill>
                <a:latin typeface="Pretendard Variable"/>
              </a:rPr>
              <a:t>오픈채팅 공지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3500" y="7810500"/>
            <a:ext cx="15621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444444"/>
                </a:solidFill>
                <a:latin typeface="Pretendard Variable"/>
              </a:rPr>
              <a:t>오늘은 이 중에서 </a:t>
            </a:r>
            <a:r>
              <a:rPr sz="2200" b="1">
                <a:solidFill>
                  <a:srgbClr val="0A0A0A"/>
                </a:solidFill>
                <a:latin typeface="Pretendard Variable"/>
                <a:highlight>
                  <a:solidFill>
                    <a:srgbClr val="E9ED12"/>
                  </a:solidFill>
                </a:highlight>
              </a:rPr>
              <a:t>알림톡</a:t>
            </a:r>
            <a:r>
              <a:rPr sz="2200" b="0">
                <a:solidFill>
                  <a:srgbClr val="444444"/>
                </a:solidFill>
                <a:latin typeface="Pretendard Variable"/>
              </a:rPr>
              <a:t> 얘기만 할 거예요. 제일 빡센 녀석이거든요.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95250" cy="9525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250" y="38100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80">
                <a:solidFill>
                  <a:srgbClr val="888888"/>
                </a:solidFill>
                <a:latin typeface="Pretendard Variable"/>
              </a:rPr>
              <a:t>§ 1 · 지난 여정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1000"/>
            <a:ext cx="762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spc="180">
                <a:solidFill>
                  <a:srgbClr val="888888"/>
                </a:solidFill>
                <a:latin typeface="Pretendard Variable"/>
              </a:rPr>
              <a:t>EMILY · SELFISH CLUB · 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1524000"/>
            <a:ext cx="1333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spc="220">
                <a:solidFill>
                  <a:srgbClr val="777777"/>
                </a:solidFill>
                <a:latin typeface="Pretendard Variable"/>
              </a:rPr>
              <a:t>알림톡, 얼마나 빡세냐면.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000250"/>
            <a:ext cx="15621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 spc="-35">
                <a:solidFill>
                  <a:srgbClr val="0A0A0A"/>
                </a:solidFill>
                <a:latin typeface="Pretendard Variable"/>
              </a:rPr>
              <a:t>공유회 1건당 이렇게 나가요.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3500" y="3619500"/>
            <a:ext cx="5076825" cy="3810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90700" y="4152900"/>
            <a:ext cx="1905000" cy="171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0" b="1" spc="-50">
                <a:solidFill>
                  <a:srgbClr val="0A0A0A"/>
                </a:solidFill>
                <a:latin typeface="Pretendard Variable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0" y="4762500"/>
            <a:ext cx="260032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666666"/>
                </a:solidFill>
                <a:latin typeface="Pretendard Variable"/>
              </a:rPr>
              <a:t>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90700" y="6286500"/>
            <a:ext cx="416242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Pretendard Variable"/>
              </a:rPr>
              <a:t>D-10 부터 D-day 까지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00825" y="3619500"/>
            <a:ext cx="5076825" cy="3810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58025" y="4152900"/>
            <a:ext cx="1905000" cy="171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0" b="1" spc="-50">
                <a:solidFill>
                  <a:srgbClr val="0A0A0A"/>
                </a:solidFill>
                <a:latin typeface="Pretendard Variable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7325" y="4762500"/>
            <a:ext cx="260032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666666"/>
                </a:solidFill>
                <a:latin typeface="Pretendard Variable"/>
              </a:rPr>
              <a:t>번 발송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8025" y="6286500"/>
            <a:ext cx="416242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Pretendard Variable"/>
              </a:rPr>
              <a:t>승인 템플릿 9종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68150" y="3619500"/>
            <a:ext cx="5076825" cy="3810000"/>
          </a:xfrm>
          <a:prstGeom prst="roundRect">
            <a:avLst>
              <a:gd name="adj" fmla="val 4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25350" y="4152900"/>
            <a:ext cx="1905000" cy="171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0" b="1" spc="-50">
                <a:solidFill>
                  <a:srgbClr val="E9ED12"/>
                </a:solidFill>
                <a:latin typeface="Pretendard Variable"/>
              </a:rPr>
              <a:t>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44650" y="4762500"/>
            <a:ext cx="260032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AAAAAA"/>
                </a:solidFill>
                <a:latin typeface="Pretendard Variable"/>
              </a:rPr>
              <a:t>번 바뀌는 대상자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25350" y="6286500"/>
            <a:ext cx="416242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DDDDDD"/>
                </a:solidFill>
                <a:latin typeface="Pretendard Variable"/>
              </a:rPr>
              <a:t>매 시점마다 다름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3500" y="7905750"/>
            <a:ext cx="15621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  <a:latin typeface="JetBrains Mono"/>
              </a:rPr>
              <a:t>· D-5 </a:t>
            </a:r>
            <a:r>
              <a:rPr sz="1400" b="0">
                <a:solidFill>
                  <a:srgbClr val="333333"/>
                </a:solidFill>
                <a:latin typeface="JetBrains Mono"/>
              </a:rPr>
              <a:t>오픈알림 안 받은 사람만</a:t>
            </a:r>
            <a:r>
              <a:rPr sz="1400" b="0">
                <a:solidFill>
                  <a:srgbClr val="888888"/>
                </a:solidFill>
                <a:latin typeface="JetBrains Mono"/>
              </a:rPr>
              <a:t>    · D-1 </a:t>
            </a:r>
            <a:r>
              <a:rPr sz="1400" b="0">
                <a:solidFill>
                  <a:srgbClr val="333333"/>
                </a:solidFill>
                <a:latin typeface="JetBrains Mono"/>
              </a:rPr>
              <a:t>신청자만</a:t>
            </a:r>
            <a:r>
              <a:rPr sz="1400" b="0">
                <a:solidFill>
                  <a:srgbClr val="888888"/>
                </a:solidFill>
                <a:latin typeface="JetBrains Mono"/>
              </a:rPr>
              <a:t>    · D-day </a:t>
            </a:r>
            <a:r>
              <a:rPr sz="1400" b="0">
                <a:solidFill>
                  <a:srgbClr val="333333"/>
                </a:solidFill>
                <a:latin typeface="JetBrains Mono"/>
              </a:rPr>
              <a:t>결제자만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95250" cy="9525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250" y="38100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80">
                <a:solidFill>
                  <a:srgbClr val="888888"/>
                </a:solidFill>
                <a:latin typeface="Pretendard Variable"/>
              </a:rPr>
              <a:t>§ 1 · 지난 여정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1000"/>
            <a:ext cx="762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spc="180">
                <a:solidFill>
                  <a:srgbClr val="888888"/>
                </a:solidFill>
                <a:latin typeface="Pretendard Variable"/>
              </a:rPr>
              <a:t>EMILY · SELFISH CLUB · 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2667000"/>
            <a:ext cx="1333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spc="220">
                <a:solidFill>
                  <a:srgbClr val="777777"/>
                </a:solidFill>
                <a:latin typeface="Pretendard Variable"/>
              </a:rPr>
              <a:t>근데 이거, 생각보다 손이 많이 가요.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3143250"/>
            <a:ext cx="6477000" cy="266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200" b="1" spc="-35">
                <a:solidFill>
                  <a:srgbClr val="0A0A0A"/>
                </a:solidFill>
                <a:latin typeface="Pretendard Variable"/>
              </a:rPr>
              <a:t>매번</a:t>
            </a:r>
          </a:p>
          <a:p>
            <a:pPr algn="l">
              <a:lnSpc>
                <a:spcPct val="120000"/>
              </a:lnSpc>
            </a:pPr>
            <a:r>
              <a:rPr sz="5200" b="1" u="sng" spc="-35">
                <a:solidFill>
                  <a:srgbClr val="0A0A0A"/>
                </a:solidFill>
                <a:latin typeface="Pretendard Variable"/>
              </a:rPr>
              <a:t>수동으로 DB</a:t>
            </a:r>
            <a:r>
              <a:rPr sz="5200" b="1" spc="-35">
                <a:solidFill>
                  <a:srgbClr val="0A0A0A"/>
                </a:solidFill>
                <a:latin typeface="Pretendard Variable"/>
              </a:rPr>
              <a:t>를</a:t>
            </a:r>
          </a:p>
          <a:p>
            <a:pPr algn="l">
              <a:lnSpc>
                <a:spcPct val="120000"/>
              </a:lnSpc>
            </a:pPr>
            <a:r>
              <a:rPr sz="5200" b="1" spc="-35">
                <a:solidFill>
                  <a:srgbClr val="0A0A0A"/>
                </a:solidFill>
                <a:latin typeface="Pretendard Variable"/>
              </a:rPr>
              <a:t>발랐어요.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6191250"/>
            <a:ext cx="6477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444444"/>
                </a:solidFill>
                <a:latin typeface="Pretendard Variable"/>
              </a:rPr>
              <a:t>신청자 추출 → 미신청자 분리 → 다음 타겟 세팅.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444444"/>
                </a:solidFill>
                <a:latin typeface="Pretendard Variable"/>
              </a:rPr>
              <a:t>조건 하나 바뀌면, 또 또 또.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0" y="2095500"/>
            <a:ext cx="8382000" cy="6667500"/>
          </a:xfrm>
          <a:prstGeom prst="roundRect">
            <a:avLst>
              <a:gd name="adj" fmla="val 1714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77300" y="2362200"/>
            <a:ext cx="77724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A6A6A"/>
                </a:solidFill>
                <a:latin typeface="JetBrains Mono"/>
              </a:rPr>
              <a:t>-- 공유회 오픈 알림 대상자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77300" y="2647950"/>
            <a:ext cx="77724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7E8A"/>
                </a:solidFill>
                <a:latin typeface="JetBrains Mono"/>
              </a:rPr>
              <a:t>SELECT</a:t>
            </a:r>
            <a:r>
              <a:rPr sz="1400" b="0">
                <a:solidFill>
                  <a:srgbClr val="EAEAEA"/>
                </a:solidFill>
                <a:latin typeface="JetBrains Mono"/>
              </a:rPr>
              <a:t> u_phone, u_name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77300" y="2933700"/>
            <a:ext cx="77724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7E8A"/>
                </a:solidFill>
                <a:latin typeface="JetBrains Mono"/>
              </a:rPr>
              <a:t>FROM</a:t>
            </a:r>
            <a:r>
              <a:rPr sz="1400" b="0">
                <a:solidFill>
                  <a:srgbClr val="EAEAEA"/>
                </a:solidFill>
                <a:latin typeface="JetBrains Mono"/>
              </a:rPr>
              <a:t> membership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77300" y="3219450"/>
            <a:ext cx="77724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7E8A"/>
                </a:solidFill>
                <a:latin typeface="JetBrains Mono"/>
              </a:rPr>
              <a:t>WHERE</a:t>
            </a:r>
            <a:r>
              <a:rPr sz="1400" b="0">
                <a:solidFill>
                  <a:srgbClr val="EAEAEA"/>
                </a:solidFill>
                <a:latin typeface="JetBrains Mono"/>
              </a:rPr>
              <a:t> marketing_agree = </a:t>
            </a:r>
            <a:r>
              <a:rPr sz="1400" b="0">
                <a:solidFill>
                  <a:srgbClr val="FFD67A"/>
                </a:solidFill>
                <a:latin typeface="JetBrains Mono"/>
              </a:rPr>
              <a:t>true</a:t>
            </a:r>
            <a:r>
              <a:rPr sz="1400" b="0">
                <a:solidFill>
                  <a:srgbClr val="EAEAEA"/>
                </a:solidFill>
                <a:latin typeface="JetBrains Mono"/>
              </a:rPr>
              <a:t>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77300" y="3505200"/>
            <a:ext cx="77724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AEAEA"/>
                </a:solidFill>
                <a:latin typeface="JetBrains Mono"/>
              </a:rP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77300" y="3790950"/>
            <a:ext cx="77724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A6A6A"/>
                </a:solidFill>
                <a:latin typeface="JetBrains Mono"/>
              </a:rPr>
              <a:t>-- 리마인드 (미신청자만)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77300" y="4076700"/>
            <a:ext cx="77724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7E8A"/>
                </a:solidFill>
                <a:latin typeface="JetBrains Mono"/>
              </a:rPr>
              <a:t>SELECT</a:t>
            </a:r>
            <a:r>
              <a:rPr sz="1400" b="0">
                <a:solidFill>
                  <a:srgbClr val="EAEAEA"/>
                </a:solidFill>
                <a:latin typeface="JetBrains Mono"/>
              </a:rPr>
              <a:t> u_phone </a:t>
            </a:r>
            <a:r>
              <a:rPr sz="1400" b="0">
                <a:solidFill>
                  <a:srgbClr val="FF7E8A"/>
                </a:solidFill>
                <a:latin typeface="JetBrains Mono"/>
              </a:rPr>
              <a:t>FROM</a:t>
            </a:r>
            <a:r>
              <a:rPr sz="1400" b="0">
                <a:solidFill>
                  <a:srgbClr val="EAEAEA"/>
                </a:solidFill>
                <a:latin typeface="JetBrains Mono"/>
              </a:rPr>
              <a:t> membership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77300" y="4362450"/>
            <a:ext cx="77724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7E8A"/>
                </a:solidFill>
                <a:latin typeface="JetBrains Mono"/>
              </a:rPr>
              <a:t>WHERE NOT EXISTS</a:t>
            </a:r>
            <a:r>
              <a:rPr sz="1400" b="0">
                <a:solidFill>
                  <a:srgbClr val="EAEAEA"/>
                </a:solidFill>
                <a:latin typeface="JetBrains Mono"/>
              </a:rPr>
              <a:t> (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77300" y="4648200"/>
            <a:ext cx="77724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7E8A"/>
                </a:solidFill>
                <a:latin typeface="JetBrains Mono"/>
              </a:rPr>
              <a:t>  SELECT</a:t>
            </a:r>
            <a:r>
              <a:rPr sz="1400" b="0">
                <a:solidFill>
                  <a:srgbClr val="EAEAEA"/>
                </a:solidFill>
                <a:latin typeface="JetBrains Mono"/>
              </a:rPr>
              <a:t> 1 </a:t>
            </a:r>
            <a:r>
              <a:rPr sz="1400" b="0">
                <a:solidFill>
                  <a:srgbClr val="FF7E8A"/>
                </a:solidFill>
                <a:latin typeface="JetBrains Mono"/>
              </a:rPr>
              <a:t>FROM</a:t>
            </a:r>
            <a:r>
              <a:rPr sz="1400" b="0">
                <a:solidFill>
                  <a:srgbClr val="EAEAEA"/>
                </a:solidFill>
                <a:latin typeface="JetBrains Mono"/>
              </a:rPr>
              <a:t> event 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77300" y="4933950"/>
            <a:ext cx="77724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7E8A"/>
                </a:solidFill>
                <a:latin typeface="JetBrains Mono"/>
              </a:rPr>
              <a:t>  WHERE</a:t>
            </a:r>
            <a:r>
              <a:rPr sz="1400" b="0">
                <a:solidFill>
                  <a:srgbClr val="EAEAEA"/>
                </a:solidFill>
                <a:latin typeface="JetBrains Mono"/>
              </a:rPr>
              <a:t> e.u_phone = m.u_phone);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77300" y="5219700"/>
            <a:ext cx="77724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AEAEA"/>
                </a:solidFill>
                <a:latin typeface="JetBrai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77300" y="5505450"/>
            <a:ext cx="77724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A6A6A"/>
                </a:solidFill>
                <a:latin typeface="JetBrains Mono"/>
              </a:rPr>
              <a:t>-- D-1 확정자만 골라내기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77300" y="5791200"/>
            <a:ext cx="77724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7E8A"/>
                </a:solidFill>
                <a:latin typeface="JetBrains Mono"/>
              </a:rPr>
              <a:t>SELECT</a:t>
            </a:r>
            <a:r>
              <a:rPr sz="1400" b="0">
                <a:solidFill>
                  <a:srgbClr val="EAEAEA"/>
                </a:solidFill>
                <a:latin typeface="JetBrains Mono"/>
              </a:rPr>
              <a:t> u_phone </a:t>
            </a:r>
            <a:r>
              <a:rPr sz="1400" b="0">
                <a:solidFill>
                  <a:srgbClr val="FF7E8A"/>
                </a:solidFill>
                <a:latin typeface="JetBrains Mono"/>
              </a:rPr>
              <a:t>FROM</a:t>
            </a:r>
            <a:r>
              <a:rPr sz="1400" b="0">
                <a:solidFill>
                  <a:srgbClr val="EAEAEA"/>
                </a:solidFill>
                <a:latin typeface="JetBrains Mono"/>
              </a:rPr>
              <a:t> event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7300" y="6076950"/>
            <a:ext cx="77724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7E8A"/>
                </a:solidFill>
                <a:latin typeface="JetBrains Mono"/>
              </a:rPr>
              <a:t>WHERE</a:t>
            </a:r>
            <a:r>
              <a:rPr sz="1400" b="0">
                <a:solidFill>
                  <a:srgbClr val="EAEAEA"/>
                </a:solidFill>
                <a:latin typeface="JetBrains Mono"/>
              </a:rPr>
              <a:t> status = </a:t>
            </a:r>
            <a:r>
              <a:rPr sz="1400" b="0">
                <a:solidFill>
                  <a:srgbClr val="FFD67A"/>
                </a:solidFill>
                <a:latin typeface="JetBrains Mono"/>
              </a:rPr>
              <a:t>'confirmed'</a:t>
            </a:r>
            <a:r>
              <a:rPr sz="1400" b="0">
                <a:solidFill>
                  <a:srgbClr val="EAEAEA"/>
                </a:solidFill>
                <a:latin typeface="JetBrains Mono"/>
              </a:rPr>
              <a:t>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95250" cy="9525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250" y="38100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80">
                <a:solidFill>
                  <a:srgbClr val="888888"/>
                </a:solidFill>
                <a:latin typeface="Pretendard Variable"/>
              </a:rPr>
              <a:t>§ 1 · 지난 여정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1000"/>
            <a:ext cx="762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spc="180">
                <a:solidFill>
                  <a:srgbClr val="888888"/>
                </a:solidFill>
                <a:latin typeface="Pretendard Variable"/>
              </a:rPr>
              <a:t>EMILY · SELFISH CLUB · 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1524000"/>
            <a:ext cx="1333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spc="220">
                <a:solidFill>
                  <a:srgbClr val="777777"/>
                </a:solidFill>
                <a:latin typeface="Pretendard Variable"/>
              </a:rPr>
              <a:t>그래서 AAA 6주간,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000250"/>
            <a:ext cx="1562100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0" b="1" spc="-40">
                <a:solidFill>
                  <a:srgbClr val="0A0A0A"/>
                </a:solidFill>
                <a:latin typeface="Pretendard Variable"/>
                <a:highlight>
                  <a:solidFill>
                    <a:srgbClr val="E9ED12"/>
                  </a:solidFill>
                </a:highlight>
              </a:rPr>
              <a:t>자동화</a:t>
            </a:r>
            <a:r>
              <a:rPr sz="9000" b="1" spc="-40">
                <a:solidFill>
                  <a:srgbClr val="0A0A0A"/>
                </a:solidFill>
                <a:latin typeface="Pretendard Variable"/>
              </a:rPr>
              <a:t>를 시작했어요.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3500" y="4191000"/>
            <a:ext cx="7239000" cy="3810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52600" y="4762500"/>
            <a:ext cx="64008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80">
                <a:solidFill>
                  <a:srgbClr val="888888"/>
                </a:solidFill>
                <a:latin typeface="Pretendard Variable"/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2600" y="5334000"/>
            <a:ext cx="1905000" cy="171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0" b="1" spc="-50">
                <a:solidFill>
                  <a:srgbClr val="BBBBBB"/>
                </a:solidFill>
                <a:latin typeface="Pretendard Variable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0500" y="5905500"/>
            <a:ext cx="1428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999999"/>
                </a:solidFill>
                <a:latin typeface="Pretendard Variable"/>
              </a:rPr>
              <a:t>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2600" y="7239000"/>
            <a:ext cx="64008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Pretendard Variable"/>
              </a:rPr>
              <a:t>하루 3시간, 수동 SQL + 발송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0" y="5715000"/>
            <a:ext cx="762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0" b="0">
                <a:solidFill>
                  <a:srgbClr val="BBBBBB"/>
                </a:solidFill>
                <a:latin typeface="Pretendard Variable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15500" y="4191000"/>
            <a:ext cx="7239000" cy="3810000"/>
          </a:xfrm>
          <a:prstGeom prst="roundRect">
            <a:avLst>
              <a:gd name="adj" fmla="val 4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34600" y="4762500"/>
            <a:ext cx="64008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80">
                <a:solidFill>
                  <a:srgbClr val="E9ED12"/>
                </a:solidFill>
                <a:latin typeface="Pretendard Variable"/>
              </a:rPr>
              <a:t>AFTER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34600" y="5334000"/>
            <a:ext cx="1905000" cy="171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0" b="1" spc="-50">
                <a:solidFill>
                  <a:srgbClr val="E9ED12"/>
                </a:solidFill>
                <a:latin typeface="Pretendard Variable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82500" y="5905500"/>
            <a:ext cx="1905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AAAAAA"/>
                </a:solidFill>
                <a:latin typeface="Pretendard Variable"/>
              </a:rPr>
              <a:t>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34600" y="7239000"/>
            <a:ext cx="64008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DDDDDD"/>
                </a:solidFill>
                <a:latin typeface="Pretendard Variable"/>
              </a:rPr>
              <a:t>슬랙 승인 한 번 누르면 끝.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3500" y="8382000"/>
            <a:ext cx="15621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666666"/>
                </a:solidFill>
                <a:latin typeface="Pretendard Variable"/>
              </a:rPr>
              <a:t>오늘 아침 제 슬랙엔 이게 와요. </a:t>
            </a:r>
            <a:r>
              <a:rPr sz="2000" b="1">
                <a:solidFill>
                  <a:srgbClr val="0A0A0A"/>
                </a:solidFill>
                <a:latin typeface="Pretendard Variable"/>
              </a:rPr>
              <a:t>→ 다음 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95250" cy="9525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250" y="38100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80">
                <a:solidFill>
                  <a:srgbClr val="888888"/>
                </a:solidFill>
                <a:latin typeface="Pretendard Variable"/>
              </a:rPr>
              <a:t>§ 1 · 지난 여정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1000"/>
            <a:ext cx="762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spc="180">
                <a:solidFill>
                  <a:srgbClr val="888888"/>
                </a:solidFill>
                <a:latin typeface="Pretendard Variable"/>
              </a:rPr>
              <a:t>EMILY · SELFISH CLUB · 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2095500"/>
            <a:ext cx="1333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spc="220">
                <a:solidFill>
                  <a:srgbClr val="777777"/>
                </a:solidFill>
                <a:latin typeface="Pretendard Variable"/>
              </a:rPr>
              <a:t>지금 제 하루는 이렇게 시작해요. 슬랙 하나로.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571750"/>
            <a:ext cx="7620000" cy="209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400" b="1" spc="-35">
                <a:solidFill>
                  <a:srgbClr val="0A0A0A"/>
                </a:solidFill>
                <a:latin typeface="Pretendard Variable"/>
              </a:rPr>
              <a:t>오늘 아침</a:t>
            </a:r>
          </a:p>
          <a:p>
            <a:pPr algn="l">
              <a:lnSpc>
                <a:spcPct val="120000"/>
              </a:lnSpc>
            </a:pPr>
            <a:r>
              <a:rPr sz="5400" b="1" spc="-35">
                <a:solidFill>
                  <a:srgbClr val="0A0A0A"/>
                </a:solidFill>
                <a:latin typeface="Pretendard Variable"/>
              </a:rPr>
              <a:t>슬랙 한 번에 </a:t>
            </a:r>
            <a:r>
              <a:rPr sz="5400" b="1" spc="-35">
                <a:solidFill>
                  <a:srgbClr val="0A0A0A"/>
                </a:solidFill>
                <a:latin typeface="Pretendard Variable"/>
                <a:highlight>
                  <a:solidFill>
                    <a:srgbClr val="E9ED12"/>
                  </a:solidFill>
                </a:highlight>
              </a:rPr>
              <a:t>끝</a:t>
            </a:r>
            <a:r>
              <a:rPr sz="5400" b="1" spc="-35">
                <a:solidFill>
                  <a:srgbClr val="0A0A0A"/>
                </a:solidFill>
                <a:latin typeface="Pretendard Variable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5334000"/>
            <a:ext cx="571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BBBBBB"/>
                </a:solidFill>
                <a:latin typeface="Pretendard Variable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0250" y="5334000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A0A0A"/>
                </a:solidFill>
                <a:latin typeface="Pretendard Variable"/>
              </a:rPr>
              <a:t>AM 10:00 · 모달이 와요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250" y="5676900"/>
            <a:ext cx="666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Pretendard Variable"/>
              </a:rPr>
              <a:t>오늘 나갈 메시지 통합 리스트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3500" y="6096000"/>
            <a:ext cx="571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BBBBBB"/>
                </a:solidFill>
                <a:latin typeface="Pretendard Variable"/>
              </a:rP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00250" y="6096000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A0A0A"/>
                </a:solidFill>
                <a:latin typeface="Pretendard Variable"/>
              </a:rPr>
              <a:t>수정·승인, 한 번에 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250" y="6438900"/>
            <a:ext cx="666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Pretendard Variable"/>
              </a:rPr>
              <a:t>시간·링크·카피 다 모달 안에서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3500" y="6858000"/>
            <a:ext cx="571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BBBBBB"/>
                </a:solidFill>
                <a:latin typeface="Pretendard Variable"/>
              </a:rPr>
              <a:t>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00250" y="6858000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A0A0A"/>
                </a:solidFill>
                <a:latin typeface="Pretendard Variable"/>
              </a:rPr>
              <a:t>예약 발송, 알아서 나가요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00250" y="7200900"/>
            <a:ext cx="666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Pretendard Variable"/>
              </a:rPr>
              <a:t>Solapi로 자동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77500" y="2381250"/>
            <a:ext cx="5905500" cy="47625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477500" y="2381250"/>
            <a:ext cx="5905500" cy="57150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87050" y="2552700"/>
            <a:ext cx="476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A0A0A"/>
                </a:solidFill>
                <a:latin typeface="Pretendard Variable"/>
              </a:rPr>
              <a:t># 오늘의 알림톡 · 승인 요청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0" y="2552700"/>
            <a:ext cx="190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99999"/>
                </a:solidFill>
                <a:latin typeface="Pretendard Variable"/>
              </a:rPr>
              <a:t>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77500" y="2952750"/>
            <a:ext cx="5905500" cy="666750"/>
          </a:xfrm>
          <a:prstGeom prst="rect">
            <a:avLst/>
          </a:prstGeom>
          <a:solidFill>
            <a:srgbClr val="F9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687050" y="311467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87050" y="3171825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0A0A0A"/>
                </a:solidFill>
                <a:latin typeface="Pretendard Variable"/>
              </a:rPr>
              <a:t>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63300" y="3095625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A0A0A"/>
                </a:solidFill>
                <a:latin typeface="Pretendard Variable"/>
              </a:rPr>
              <a:t>알림톡봇  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63300" y="333375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Pretendard Variable"/>
              </a:rPr>
              <a:t>오전 11:05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7050" y="3810000"/>
            <a:ext cx="5486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A0A0A"/>
                </a:solidFill>
                <a:latin typeface="Pretendard Variable"/>
              </a:rPr>
              <a:t>🔗 [#6 입장링크] 비개발자를 위한 클로드코드앱 &amp; 깃헙 실전 정복기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87050" y="4095750"/>
            <a:ext cx="54864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Pretendard Variable"/>
              </a:rPr>
              <a:t>— 수정됨 ✏️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87050" y="4381500"/>
            <a:ext cx="54864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Pretendard Variable"/>
              </a:rPr>
              <a:t>대상: 1명   ⏰ 발송시간: 11:11   🔗 URL: sepia-quartz-81f.notion.site/3305c...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87050" y="4762500"/>
            <a:ext cx="5486400" cy="1143000"/>
          </a:xfrm>
          <a:prstGeom prst="roundRect">
            <a:avLst>
              <a:gd name="adj" fmla="val 6666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39450" y="4876800"/>
            <a:ext cx="51816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0A0A"/>
                </a:solidFill>
                <a:latin typeface="Pretendard Variable"/>
              </a:rPr>
              <a:t>📋 수정된 미리보기: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39450" y="5143500"/>
            <a:ext cx="51816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333333"/>
                </a:solidFill>
                <a:latin typeface="Pretendard Variable"/>
              </a:rPr>
              <a:t>{이름}님께서 신청하신 </a:t>
            </a:r>
            <a:r>
              <a:rPr sz="1000" b="1">
                <a:solidFill>
                  <a:srgbClr val="333333"/>
                </a:solidFill>
                <a:latin typeface="Pretendard Variable"/>
              </a:rPr>
              <a:t>이기적공유회</a:t>
            </a:r>
            <a:r>
              <a:rPr sz="1000" b="0">
                <a:solidFill>
                  <a:srgbClr val="333333"/>
                </a:solidFill>
                <a:latin typeface="Pretendard Variable"/>
              </a:rPr>
              <a:t>가 </a:t>
            </a:r>
            <a:r>
              <a:rPr sz="1000" b="1">
                <a:solidFill>
                  <a:srgbClr val="0A0A0A"/>
                </a:solidFill>
                <a:latin typeface="Pretendard Variable"/>
                <a:highlight>
                  <a:solidFill>
                    <a:srgbClr val="E9ED12"/>
                  </a:solidFill>
                </a:highlight>
              </a:rPr>
              <a:t>20:00</a:t>
            </a:r>
            <a:r>
              <a:rPr sz="1000" b="0">
                <a:solidFill>
                  <a:srgbClr val="333333"/>
                </a:solidFill>
                <a:latin typeface="Pretendard Variable"/>
              </a:rPr>
              <a:t>에 시작됩니다 😊 늦지 않게 입장해주세요!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87050" y="6048375"/>
            <a:ext cx="54864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Pretendard Variable"/>
              </a:rPr>
              <a:t>⚠️ 승인 시 예약 발송이 확정됩니다. 카피·링크·시간을 반드시 확인 후 승인해주세요.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687050" y="6381750"/>
            <a:ext cx="1333500" cy="381000"/>
          </a:xfrm>
          <a:prstGeom prst="roundRect">
            <a:avLst>
              <a:gd name="adj" fmla="val 15000"/>
            </a:avLst>
          </a:prstGeom>
          <a:solidFill>
            <a:srgbClr val="2EB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87050" y="6477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 Variable"/>
              </a:rPr>
              <a:t>✅ 이대로 발송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096750" y="6381750"/>
            <a:ext cx="76200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096750" y="647700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A0A0A"/>
                </a:solidFill>
                <a:latin typeface="Pretendard Variable"/>
              </a:rPr>
              <a:t>✏️ 수정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934950" y="6381750"/>
            <a:ext cx="76200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934950" y="647700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C4343B"/>
                </a:solidFill>
                <a:latin typeface="Pretendard Variable"/>
              </a:rPr>
              <a:t>❌ 취소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95250" cy="9525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250" y="38100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80">
                <a:solidFill>
                  <a:srgbClr val="666666"/>
                </a:solidFill>
                <a:latin typeface="Pretendard Variable"/>
              </a:rPr>
              <a:t>§ 2 ·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1000"/>
            <a:ext cx="762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spc="180">
                <a:solidFill>
                  <a:srgbClr val="666666"/>
                </a:solidFill>
                <a:latin typeface="Pretendard Variable"/>
              </a:rPr>
              <a:t>EMILY · SELFISH CLUB · 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1714500"/>
            <a:ext cx="15621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spc="220">
                <a:solidFill>
                  <a:srgbClr val="999999"/>
                </a:solidFill>
                <a:latin typeface="Pretendard Variable"/>
              </a:rPr>
              <a:t>여기서부터 본편.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381250"/>
            <a:ext cx="15621000" cy="476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5000" b="1" spc="-40">
                <a:solidFill>
                  <a:srgbClr val="FFFFFF"/>
                </a:solidFill>
                <a:latin typeface="Pretendard Variable"/>
              </a:rPr>
              <a:t>Step 1.</a:t>
            </a:r>
          </a:p>
          <a:p>
            <a:pPr algn="l">
              <a:lnSpc>
                <a:spcPct val="102000"/>
              </a:lnSpc>
            </a:pPr>
            <a:r>
              <a:rPr sz="15000" b="1" u="sng" spc="-40">
                <a:solidFill>
                  <a:srgbClr val="FFFFFF"/>
                </a:solidFill>
                <a:latin typeface="Pretendard Variable"/>
              </a:rPr>
              <a:t>자동화 구조</a:t>
            </a:r>
          </a:p>
          <a:p>
            <a:pPr algn="l">
              <a:lnSpc>
                <a:spcPct val="102000"/>
              </a:lnSpc>
            </a:pPr>
            <a:r>
              <a:rPr sz="15000" b="1" spc="-40">
                <a:solidFill>
                  <a:srgbClr val="FFFFFF"/>
                </a:solidFill>
                <a:latin typeface="Pretendard Variable"/>
              </a:rPr>
              <a:t>설계.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8286750"/>
            <a:ext cx="15621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BBBBBB"/>
                </a:solidFill>
                <a:latin typeface="Pretendard Variable"/>
              </a:rPr>
              <a:t>노트북을 덮어도, 퇴근한 뒤에도 — 메시지가 나가게.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95250" cy="9525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250" y="38100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80">
                <a:solidFill>
                  <a:srgbClr val="666666"/>
                </a:solidFill>
                <a:latin typeface="Pretendard Variable"/>
              </a:rPr>
              <a:t>§ 2 ·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1000"/>
            <a:ext cx="762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spc="180">
                <a:solidFill>
                  <a:srgbClr val="666666"/>
                </a:solidFill>
                <a:latin typeface="Pretendard Variable"/>
              </a:rPr>
              <a:t>EMILY · SELFISH CLUB · 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1714500"/>
            <a:ext cx="15621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spc="220">
                <a:solidFill>
                  <a:srgbClr val="999999"/>
                </a:solidFill>
                <a:latin typeface="Pretendard Variable"/>
              </a:rPr>
              <a:t>그 전에,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190750"/>
            <a:ext cx="1562100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0" b="1" spc="-40">
                <a:solidFill>
                  <a:srgbClr val="FFFFFF"/>
                </a:solidFill>
                <a:latin typeface="Pretendard Variable"/>
              </a:rPr>
              <a:t>도구 </a:t>
            </a:r>
            <a:r>
              <a:rPr sz="7800" b="1" spc="-40">
                <a:solidFill>
                  <a:srgbClr val="0A0A0A"/>
                </a:solidFill>
                <a:latin typeface="Pretendard Variable"/>
                <a:highlight>
                  <a:solidFill>
                    <a:srgbClr val="E9ED12"/>
                  </a:solidFill>
                </a:highlight>
              </a:rPr>
              <a:t>셋</a:t>
            </a:r>
            <a:r>
              <a:rPr sz="7800" b="1" spc="-40">
                <a:solidFill>
                  <a:srgbClr val="FFFFFF"/>
                </a:solidFill>
                <a:latin typeface="Pretendard Variable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3714750"/>
            <a:ext cx="15621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D0D0D0"/>
                </a:solidFill>
                <a:latin typeface="Pretendard Variable"/>
              </a:rPr>
              <a:t>셀피쉬가 쓰는 스택이에요.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33500" y="4762500"/>
            <a:ext cx="5143500" cy="3619500"/>
          </a:xfrm>
          <a:prstGeom prst="roundRect">
            <a:avLst>
              <a:gd name="adj" fmla="val 4210"/>
            </a:avLst>
          </a:prstGeom>
          <a:solidFill>
            <a:srgbClr val="1A1A1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90700" y="5295900"/>
            <a:ext cx="42291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77777"/>
                </a:solidFill>
                <a:latin typeface="Pretendard Variable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90700" y="5676900"/>
            <a:ext cx="42291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spc="-30">
                <a:solidFill>
                  <a:srgbClr val="FFFFFF"/>
                </a:solidFill>
                <a:latin typeface="Pretendard Variable"/>
              </a:rPr>
              <a:t>Slack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90700" y="6858000"/>
            <a:ext cx="42291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80">
                <a:solidFill>
                  <a:srgbClr val="888888"/>
                </a:solidFill>
                <a:latin typeface="Pretendard Variable"/>
              </a:rPr>
              <a:t>커뮤니케이션 · 승인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90700" y="7239000"/>
            <a:ext cx="42291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DDDDDD"/>
                </a:solidFill>
                <a:latin typeface="Pretendard Variable"/>
              </a:rPr>
              <a:t>메신저이자 승인 게이트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500" y="4762500"/>
            <a:ext cx="5143500" cy="3619500"/>
          </a:xfrm>
          <a:prstGeom prst="roundRect">
            <a:avLst>
              <a:gd name="adj" fmla="val 4210"/>
            </a:avLst>
          </a:prstGeom>
          <a:solidFill>
            <a:srgbClr val="1A1A1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24700" y="5295900"/>
            <a:ext cx="42291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77777"/>
                </a:solidFill>
                <a:latin typeface="Pretendard Variable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24700" y="5676900"/>
            <a:ext cx="42291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spc="-30">
                <a:solidFill>
                  <a:srgbClr val="FFFFFF"/>
                </a:solidFill>
                <a:latin typeface="Pretendard Variable"/>
              </a:rPr>
              <a:t>Supabase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24700" y="6858000"/>
            <a:ext cx="42291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80">
                <a:solidFill>
                  <a:srgbClr val="888888"/>
                </a:solidFill>
                <a:latin typeface="Pretendard Variable"/>
              </a:rPr>
              <a:t>데이터베이스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4700" y="7239000"/>
            <a:ext cx="42291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DDDDDD"/>
                </a:solidFill>
                <a:latin typeface="Pretendard Variable"/>
              </a:rPr>
              <a:t>멤버·신청·일정 한 곳에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01500" y="4762500"/>
            <a:ext cx="5143500" cy="3619500"/>
          </a:xfrm>
          <a:prstGeom prst="roundRect">
            <a:avLst>
              <a:gd name="adj" fmla="val 4210"/>
            </a:avLst>
          </a:prstGeom>
          <a:solidFill>
            <a:srgbClr val="1A1A1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58700" y="5295900"/>
            <a:ext cx="42291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77777"/>
                </a:solidFill>
                <a:latin typeface="Pretendard Variable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58700" y="5676900"/>
            <a:ext cx="42291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spc="-30">
                <a:solidFill>
                  <a:srgbClr val="FFFFFF"/>
                </a:solidFill>
                <a:latin typeface="Pretendard Variable"/>
              </a:rPr>
              <a:t>n8n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58700" y="6858000"/>
            <a:ext cx="42291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80">
                <a:solidFill>
                  <a:srgbClr val="888888"/>
                </a:solidFill>
                <a:latin typeface="Pretendard Variable"/>
              </a:rPr>
              <a:t>자동화 워크플로우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58700" y="7239000"/>
            <a:ext cx="42291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DDDDDD"/>
                </a:solidFill>
                <a:latin typeface="Pretendard Variable"/>
              </a:rPr>
              <a:t>서버에서 24/7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95250" cy="9525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250" y="38100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80">
                <a:solidFill>
                  <a:srgbClr val="888888"/>
                </a:solidFill>
                <a:latin typeface="Pretendard Variable"/>
              </a:rPr>
              <a:t>§ 2 ·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1000"/>
            <a:ext cx="762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spc="180">
                <a:solidFill>
                  <a:srgbClr val="888888"/>
                </a:solidFill>
                <a:latin typeface="Pretendard Variable"/>
              </a:rPr>
              <a:t>EMILY · SELFISH CLUB · 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715500"/>
            <a:ext cx="762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80">
                <a:solidFill>
                  <a:srgbClr val="888888"/>
                </a:solidFill>
                <a:latin typeface="Pretendard Variable"/>
              </a:rPr>
              <a:t>T — 1주 · 첫 삽질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1524000"/>
            <a:ext cx="1333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spc="220">
                <a:solidFill>
                  <a:srgbClr val="777777"/>
                </a:solidFill>
                <a:latin typeface="Pretendard Variable"/>
              </a:rPr>
              <a:t>T — 1주 · 첫 삽질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000250"/>
            <a:ext cx="1562100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spc="-35">
                <a:solidFill>
                  <a:srgbClr val="0A0A0A"/>
                </a:solidFill>
                <a:latin typeface="Pretendard Variable"/>
              </a:rPr>
              <a:t>노트북 덮으면 </a:t>
            </a:r>
            <a:r>
              <a:rPr sz="5400" b="1" spc="-35">
                <a:solidFill>
                  <a:srgbClr val="0A0A0A"/>
                </a:solidFill>
                <a:latin typeface="Pretendard Variable"/>
                <a:highlight>
                  <a:solidFill>
                    <a:srgbClr val="E9ED12"/>
                  </a:solidFill>
                </a:highlight>
              </a:rPr>
              <a:t>멈추는</a:t>
            </a:r>
            <a:r>
              <a:rPr sz="5400" b="1" spc="-35">
                <a:solidFill>
                  <a:srgbClr val="0A0A0A"/>
                </a:solidFill>
                <a:latin typeface="Pretendard Variable"/>
              </a:rPr>
              <a:t> 자동화?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810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160">
                <a:solidFill>
                  <a:srgbClr val="999999"/>
                </a:solidFill>
                <a:latin typeface="Pretendard Variable"/>
              </a:rPr>
              <a:t>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33500" y="4095750"/>
            <a:ext cx="7620000" cy="762000"/>
          </a:xfrm>
          <a:prstGeom prst="roundRect">
            <a:avLst>
              <a:gd name="adj" fmla="val 225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0200" y="4305300"/>
            <a:ext cx="7086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0A0A0A"/>
                </a:solidFill>
                <a:latin typeface="Pretendard Variable"/>
              </a:rPr>
              <a:t>미신청자 뽑아서, 저녁 7시에 이거 보내줘.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4500" y="4953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spc="160">
                <a:solidFill>
                  <a:srgbClr val="999999"/>
                </a:solidFill>
                <a:latin typeface="Pretendard Variable"/>
              </a:rPr>
              <a:t>CLAUDE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5238750"/>
            <a:ext cx="7620000" cy="762000"/>
          </a:xfrm>
          <a:prstGeom prst="roundRect">
            <a:avLst>
              <a:gd name="adj" fmla="val 225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5448300"/>
            <a:ext cx="7086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Pretendard Variable"/>
              </a:rPr>
              <a:t>네, 7시에 보낼게요.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6096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160">
                <a:solidFill>
                  <a:srgbClr val="999999"/>
                </a:solidFill>
                <a:latin typeface="Pretendard Variable"/>
              </a:rPr>
              <a:t>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33500" y="6381750"/>
            <a:ext cx="7620000" cy="762000"/>
          </a:xfrm>
          <a:prstGeom prst="roundRect">
            <a:avLst>
              <a:gd name="adj" fmla="val 225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6591300"/>
            <a:ext cx="7086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0A0A0A"/>
                </a:solidFill>
                <a:latin typeface="Pretendard Variable"/>
              </a:rPr>
              <a:t>…근데 저 6시에 퇴근하거든요. 노트북 끄고 가도 돼요?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34500" y="7239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spc="160">
                <a:solidFill>
                  <a:srgbClr val="999999"/>
                </a:solidFill>
                <a:latin typeface="Pretendard Variable"/>
              </a:rPr>
              <a:t>CLAUDE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34500" y="7524750"/>
            <a:ext cx="7620000" cy="762000"/>
          </a:xfrm>
          <a:prstGeom prst="roundRect">
            <a:avLst>
              <a:gd name="adj" fmla="val 225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7734300"/>
            <a:ext cx="7086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Pretendard Variable"/>
              </a:rPr>
              <a:t>아… 노트북이 꺼지면, 저는 못 보내요.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3500" y="8572500"/>
            <a:ext cx="15621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Pretendard Variable"/>
              </a:rPr>
              <a:t>→ 내가 없어도 돌아갈 </a:t>
            </a:r>
            <a:r>
              <a:rPr sz="2200" b="1">
                <a:solidFill>
                  <a:srgbClr val="0A0A0A"/>
                </a:solidFill>
                <a:latin typeface="Pretendard Variable"/>
                <a:highlight>
                  <a:solidFill>
                    <a:srgbClr val="E9ED12"/>
                  </a:solidFill>
                </a:highlight>
              </a:rPr>
              <a:t>무언가</a:t>
            </a:r>
            <a:r>
              <a:rPr sz="2200" b="0">
                <a:solidFill>
                  <a:srgbClr val="333333"/>
                </a:solidFill>
                <a:latin typeface="Pretendard Variable"/>
              </a:rPr>
              <a:t>가 필요했어요.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95250" cy="9525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250" y="38100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80">
                <a:solidFill>
                  <a:srgbClr val="888888"/>
                </a:solidFill>
                <a:latin typeface="Pretendard Variable"/>
              </a:rPr>
              <a:t>§ 2 ·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1000"/>
            <a:ext cx="762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spc="180">
                <a:solidFill>
                  <a:srgbClr val="888888"/>
                </a:solidFill>
                <a:latin typeface="Pretendard Variable"/>
              </a:rPr>
              <a:t>EMILY · SELFISH CLUB · 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1524000"/>
            <a:ext cx="1333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spc="220">
                <a:solidFill>
                  <a:srgbClr val="777777"/>
                </a:solidFill>
                <a:latin typeface="Pretendard Variable"/>
              </a:rPr>
              <a:t>그래서,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000250"/>
            <a:ext cx="1562100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0" b="1" spc="-40">
                <a:solidFill>
                  <a:srgbClr val="0A0A0A"/>
                </a:solidFill>
                <a:latin typeface="Pretendard Variable"/>
              </a:rPr>
              <a:t>만드는 건 </a:t>
            </a:r>
            <a:r>
              <a:rPr sz="7800" b="1" spc="-40">
                <a:solidFill>
                  <a:srgbClr val="0A0A0A"/>
                </a:solidFill>
                <a:latin typeface="Pretendard Variable"/>
                <a:highlight>
                  <a:solidFill>
                    <a:srgbClr val="E9ED12"/>
                  </a:solidFill>
                </a:highlight>
              </a:rPr>
              <a:t>Claude</a:t>
            </a:r>
            <a:r>
              <a:rPr sz="7800" b="1" spc="-40">
                <a:solidFill>
                  <a:srgbClr val="0A0A0A"/>
                </a:solidFill>
                <a:latin typeface="Pretendard Variable"/>
              </a:rPr>
              <a:t>, 보내는 건 </a:t>
            </a:r>
            <a:r>
              <a:rPr sz="7800" b="1" spc="-40">
                <a:solidFill>
                  <a:srgbClr val="0A0A0A"/>
                </a:solidFill>
                <a:latin typeface="Pretendard Variable"/>
                <a:highlight>
                  <a:solidFill>
                    <a:srgbClr val="E9ED12"/>
                  </a:solidFill>
                </a:highlight>
              </a:rPr>
              <a:t>n8n</a:t>
            </a:r>
            <a:r>
              <a:rPr sz="7800" b="1" spc="-40">
                <a:solidFill>
                  <a:srgbClr val="0A0A0A"/>
                </a:solidFill>
                <a:latin typeface="Pretendard Variable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3500" y="4762500"/>
            <a:ext cx="7715250" cy="3619500"/>
          </a:xfrm>
          <a:prstGeom prst="roundRect">
            <a:avLst>
              <a:gd name="adj" fmla="val 421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90700" y="5219700"/>
            <a:ext cx="1428750" cy="323850"/>
          </a:xfrm>
          <a:prstGeom prst="roundRect">
            <a:avLst>
              <a:gd name="adj" fmla="val 11764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90700" y="5276850"/>
            <a:ext cx="1428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spc="180">
                <a:solidFill>
                  <a:srgbClr val="E9ED12"/>
                </a:solidFill>
                <a:latin typeface="Pretendard Variable"/>
              </a:rPr>
              <a:t>만드는 역할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90700" y="5810250"/>
            <a:ext cx="68008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spc="-30">
                <a:solidFill>
                  <a:srgbClr val="0A0A0A"/>
                </a:solidFill>
                <a:latin typeface="Pretendard Variable"/>
              </a:rPr>
              <a:t>Claude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90700" y="6858000"/>
            <a:ext cx="68008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333333"/>
                </a:solidFill>
                <a:latin typeface="Pretendard Variable"/>
              </a:rPr>
              <a:t>알림톡 내용·조건·타이밍을 설계.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333333"/>
                </a:solidFill>
                <a:latin typeface="Pretendard Variable"/>
              </a:rPr>
              <a:t>내가 노트북 켰을 때만 돌아요.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9250" y="4762500"/>
            <a:ext cx="7715250" cy="3619500"/>
          </a:xfrm>
          <a:prstGeom prst="roundRect">
            <a:avLst>
              <a:gd name="adj" fmla="val 421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96450" y="5219700"/>
            <a:ext cx="1428750" cy="323850"/>
          </a:xfrm>
          <a:prstGeom prst="roundRect">
            <a:avLst>
              <a:gd name="adj" fmla="val 11764"/>
            </a:avLst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6450" y="5276850"/>
            <a:ext cx="1428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spc="180">
                <a:solidFill>
                  <a:srgbClr val="0A0A0A"/>
                </a:solidFill>
                <a:latin typeface="Pretendard Variable"/>
              </a:rPr>
              <a:t>보내는 역할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6450" y="5810250"/>
            <a:ext cx="68008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spc="-30">
                <a:solidFill>
                  <a:srgbClr val="FFFFFF"/>
                </a:solidFill>
                <a:latin typeface="Pretendard Variable"/>
              </a:rPr>
              <a:t>n8n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6450" y="6858000"/>
            <a:ext cx="68008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DDDDDD"/>
                </a:solidFill>
                <a:latin typeface="Pretendard Variable"/>
              </a:rPr>
              <a:t>설계된 알림톡을 실제로 발송.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DDDDDD"/>
                </a:solidFill>
                <a:latin typeface="Pretendard Variable"/>
              </a:rPr>
              <a:t>서버에서 24시간 계속 돌아요.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95250" cy="9525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250" y="38100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80">
                <a:solidFill>
                  <a:srgbClr val="888888"/>
                </a:solidFill>
                <a:latin typeface="Pretendard Variable"/>
              </a:rPr>
              <a:t>§ 2 ·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1000"/>
            <a:ext cx="762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spc="180">
                <a:solidFill>
                  <a:srgbClr val="888888"/>
                </a:solidFill>
                <a:latin typeface="Pretendard Variable"/>
              </a:rPr>
              <a:t>EMILY · SELFISH CLUB · 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1524000"/>
            <a:ext cx="1333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spc="220">
                <a:solidFill>
                  <a:srgbClr val="777777"/>
                </a:solidFill>
                <a:latin typeface="Pretendard Variable"/>
              </a:rPr>
              <a:t>근데 또 불안했어요.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000250"/>
            <a:ext cx="1562100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0" b="1" spc="-35">
                <a:solidFill>
                  <a:srgbClr val="0A0A0A"/>
                </a:solidFill>
                <a:latin typeface="Pretendard Variable"/>
              </a:rPr>
              <a:t>완전 자동은 </a:t>
            </a:r>
            <a:r>
              <a:rPr sz="5000" b="1" spc="-35">
                <a:solidFill>
                  <a:srgbClr val="0A0A0A"/>
                </a:solidFill>
                <a:latin typeface="Pretendard Variable"/>
                <a:highlight>
                  <a:solidFill>
                    <a:srgbClr val="E9ED12"/>
                  </a:solidFill>
                </a:highlight>
              </a:rPr>
              <a:t>무서운</a:t>
            </a:r>
            <a:r>
              <a:rPr sz="5000" b="1" spc="-35">
                <a:solidFill>
                  <a:srgbClr val="0A0A0A"/>
                </a:solidFill>
                <a:latin typeface="Pretendard Variable"/>
              </a:rPr>
              <a:t> 이유가 있죠.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3500" y="4191000"/>
            <a:ext cx="5143500" cy="2095500"/>
          </a:xfrm>
          <a:prstGeom prst="roundRect">
            <a:avLst>
              <a:gd name="adj" fmla="val 7272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6400" y="4572000"/>
            <a:ext cx="44577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A0A0A"/>
                </a:solidFill>
                <a:latin typeface="Pretendard Variable"/>
              </a:rPr>
              <a:t>오타 한 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76400" y="5238750"/>
            <a:ext cx="44577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  <a:latin typeface="Pretendard Variable"/>
              </a:rPr>
              <a:t>= 6,800명이 동시에 본다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500" y="4191000"/>
            <a:ext cx="5143500" cy="2095500"/>
          </a:xfrm>
          <a:prstGeom prst="roundRect">
            <a:avLst>
              <a:gd name="adj" fmla="val 7272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10400" y="4572000"/>
            <a:ext cx="44577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A0A0A"/>
                </a:solidFill>
                <a:latin typeface="Pretendard Variable"/>
              </a:rPr>
              <a:t>링크 깨짐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0400" y="5238750"/>
            <a:ext cx="44577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  <a:latin typeface="Pretendard Variable"/>
              </a:rPr>
              <a:t>= 유입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01500" y="4191000"/>
            <a:ext cx="5143500" cy="2095500"/>
          </a:xfrm>
          <a:prstGeom prst="roundRect">
            <a:avLst>
              <a:gd name="adj" fmla="val 7272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0" y="4572000"/>
            <a:ext cx="44577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A0A0A"/>
                </a:solidFill>
                <a:latin typeface="Pretendard Variable"/>
              </a:rPr>
              <a:t>타겟 실수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0" y="5238750"/>
            <a:ext cx="44577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  <a:latin typeface="Pretendard Variable"/>
              </a:rPr>
              <a:t>= 신청 안 한 사람한테 "내일 봐요"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33500" y="7239000"/>
            <a:ext cx="11430000" cy="952500"/>
          </a:xfrm>
          <a:prstGeom prst="roundRect">
            <a:avLst>
              <a:gd name="adj" fmla="val 14000"/>
            </a:avLst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19250" y="7524750"/>
            <a:ext cx="11144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A0A0A"/>
                </a:solidFill>
                <a:latin typeface="Pretendard Variable"/>
              </a:rPr>
              <a:t>사람이 한 번 보는 </a:t>
            </a:r>
            <a:r>
              <a:rPr sz="2600" b="1" u="sng">
                <a:solidFill>
                  <a:srgbClr val="0A0A0A"/>
                </a:solidFill>
                <a:latin typeface="Pretendard Variable"/>
              </a:rPr>
              <a:t>관문</a:t>
            </a:r>
            <a:r>
              <a:rPr sz="2600" b="1">
                <a:solidFill>
                  <a:srgbClr val="0A0A0A"/>
                </a:solidFill>
                <a:latin typeface="Pretendard Variable"/>
              </a:rPr>
              <a:t>을 넣자. → Slack 승인.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95250" cy="9525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250" y="38100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80">
                <a:solidFill>
                  <a:srgbClr val="666666"/>
                </a:solidFill>
                <a:latin typeface="Pretendard Variable"/>
              </a:rPr>
              <a:t>§ 3 · 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1000"/>
            <a:ext cx="762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spc="180">
                <a:solidFill>
                  <a:srgbClr val="666666"/>
                </a:solidFill>
                <a:latin typeface="Pretendard Variable"/>
              </a:rPr>
              <a:t>EMILY · SELFISH CLUB · 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1714500"/>
            <a:ext cx="15621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spc="220">
                <a:solidFill>
                  <a:srgbClr val="999999"/>
                </a:solidFill>
                <a:latin typeface="Pretendard Variable"/>
              </a:rPr>
              <a:t>자동화만으론 안 되더라.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381250"/>
            <a:ext cx="15621000" cy="476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4000" b="1" spc="-40">
                <a:solidFill>
                  <a:srgbClr val="FFFFFF"/>
                </a:solidFill>
                <a:latin typeface="Pretendard Variable"/>
              </a:rPr>
              <a:t>Step 2.</a:t>
            </a:r>
          </a:p>
          <a:p>
            <a:pPr algn="l">
              <a:lnSpc>
                <a:spcPct val="102000"/>
              </a:lnSpc>
            </a:pPr>
            <a:r>
              <a:rPr sz="14000" b="1" spc="-40">
                <a:solidFill>
                  <a:srgbClr val="FFFFFF"/>
                </a:solidFill>
                <a:latin typeface="Pretendard Variable"/>
              </a:rPr>
              <a:t>AI한테 </a:t>
            </a:r>
            <a:r>
              <a:rPr sz="14000" b="1" spc="-40">
                <a:solidFill>
                  <a:srgbClr val="0A0A0A"/>
                </a:solidFill>
                <a:latin typeface="Pretendard Variable"/>
                <a:highlight>
                  <a:solidFill>
                    <a:srgbClr val="E9ED12"/>
                  </a:solidFill>
                </a:highlight>
              </a:rPr>
              <a:t>내 맥락</a:t>
            </a:r>
            <a:r>
              <a:rPr sz="14000" b="1" spc="-40">
                <a:solidFill>
                  <a:srgbClr val="FFFFFF"/>
                </a:solidFill>
                <a:latin typeface="Pretendard Variable"/>
              </a:rPr>
              <a:t>을</a:t>
            </a:r>
          </a:p>
          <a:p>
            <a:pPr algn="l">
              <a:lnSpc>
                <a:spcPct val="102000"/>
              </a:lnSpc>
            </a:pPr>
            <a:r>
              <a:rPr sz="14000" b="1" spc="-40">
                <a:solidFill>
                  <a:srgbClr val="FFFFFF"/>
                </a:solidFill>
                <a:latin typeface="Pretendard Variable"/>
              </a:rPr>
              <a:t>심는 법.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8572500"/>
            <a:ext cx="15621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BBBBBB"/>
                </a:solidFill>
                <a:latin typeface="Pretendard Variable"/>
              </a:rPr>
              <a:t>'이게 </a:t>
            </a:r>
            <a:r>
              <a:rPr sz="2200" b="1">
                <a:solidFill>
                  <a:srgbClr val="E9ED12"/>
                </a:solidFill>
                <a:latin typeface="Pretendard Variable"/>
              </a:rPr>
              <a:t>하네스</a:t>
            </a:r>
            <a:r>
              <a:rPr sz="2200" b="0">
                <a:solidFill>
                  <a:srgbClr val="BBBBBB"/>
                </a:solidFill>
                <a:latin typeface="Pretendard Variable"/>
              </a:rPr>
              <a:t>'구나'를 알기까지 좀 걸렸어요.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95250" cy="9525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250" y="38100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80">
                <a:solidFill>
                  <a:srgbClr val="888888"/>
                </a:solidFill>
                <a:latin typeface="Pretendard Variable"/>
              </a:rPr>
              <a:t>§ 3 · 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1000"/>
            <a:ext cx="762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spc="180">
                <a:solidFill>
                  <a:srgbClr val="888888"/>
                </a:solidFill>
                <a:latin typeface="Pretendard Variable"/>
              </a:rPr>
              <a:t>EMILY · SELFISH CLUB · 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2667000"/>
            <a:ext cx="1333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spc="220">
                <a:solidFill>
                  <a:srgbClr val="777777"/>
                </a:solidFill>
                <a:latin typeface="Pretendard Variable"/>
              </a:rPr>
              <a:t>규칙이 너무 많아서,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3143250"/>
            <a:ext cx="6667500" cy="209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 u="sng" spc="-35">
                <a:solidFill>
                  <a:srgbClr val="0A0A0A"/>
                </a:solidFill>
                <a:latin typeface="Pretendard Variable"/>
              </a:rPr>
              <a:t>CLAUDE.md 353줄</a:t>
            </a:r>
            <a:r>
              <a:rPr sz="4800" b="1" spc="-35">
                <a:solidFill>
                  <a:srgbClr val="0A0A0A"/>
                </a:solidFill>
                <a:latin typeface="Pretendard Variable"/>
              </a:rPr>
              <a:t>에</a:t>
            </a:r>
          </a:p>
          <a:p>
            <a:pPr algn="l">
              <a:lnSpc>
                <a:spcPct val="120000"/>
              </a:lnSpc>
            </a:pPr>
            <a:r>
              <a:rPr sz="4800" b="1" spc="-35">
                <a:solidFill>
                  <a:srgbClr val="0A0A0A"/>
                </a:solidFill>
                <a:latin typeface="Pretendard Variable"/>
              </a:rPr>
              <a:t>다 박았어요.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5905500"/>
            <a:ext cx="66675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444444"/>
                </a:solidFill>
                <a:latin typeface="Pretendard Variable"/>
              </a:rPr>
              <a:t>근데 AI가 자꾸 틀리고 까먹음.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444444"/>
                </a:solidFill>
                <a:latin typeface="Pretendard Variable"/>
              </a:rPr>
              <a:t>맥북 2개 쓰는데, 다른 맥북 켜면 일주일 전 기억이 마지막.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63000" y="2286000"/>
            <a:ext cx="8191500" cy="6477000"/>
          </a:xfrm>
          <a:prstGeom prst="roundRect">
            <a:avLst>
              <a:gd name="adj" fmla="val 1764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29700" y="2514600"/>
            <a:ext cx="76581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A6A6A"/>
                </a:solidFill>
                <a:latin typeface="JetBrains Mono"/>
              </a:rPr>
              <a:t># 셀피쉬 CRM 운영 규칙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29700" y="2724150"/>
            <a:ext cx="76581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A6A6A"/>
                </a:solidFill>
                <a:latin typeface="JetBrains Mono"/>
              </a:rPr>
              <a:t># v2.1 — 2026.03.14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29700" y="3105150"/>
            <a:ext cx="76581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9ED12"/>
                </a:solidFill>
                <a:latin typeface="JetBrains Mono"/>
              </a:rPr>
              <a:t>## 톤앤매너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29700" y="3314700"/>
            <a:ext cx="76581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AEAEA"/>
                </a:solidFill>
                <a:latin typeface="JetBrains Mono"/>
              </a:rPr>
              <a:t>- 존댓말 · 이모지 1개 이하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29700" y="3524250"/>
            <a:ext cx="76581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AEAEA"/>
                </a:solidFill>
                <a:latin typeface="JetBrains Mono"/>
              </a:rPr>
              <a:t>- '~님' 호칭 통일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29700" y="3733800"/>
            <a:ext cx="76581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AEAEA"/>
                </a:solidFill>
                <a:latin typeface="JetBrains Mono"/>
              </a:rPr>
              <a:t>- 느낌표 남발 금지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29700" y="4114800"/>
            <a:ext cx="76581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9ED12"/>
                </a:solidFill>
                <a:latin typeface="JetBrains Mono"/>
              </a:rPr>
              <a:t>## 알림톡 타이밍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29700" y="4324350"/>
            <a:ext cx="76581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AEAEA"/>
                </a:solidFill>
                <a:latin typeface="JetBrains Mono"/>
              </a:rPr>
              <a:t>- D-5 오픈알림 / D-3 리마인드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29700" y="4533900"/>
            <a:ext cx="76581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AEAEA"/>
                </a:solidFill>
                <a:latin typeface="JetBrains Mono"/>
              </a:rPr>
              <a:t>- D-1 확정자 / D-0 입장링크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29700" y="4743450"/>
            <a:ext cx="76581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AEAEA"/>
                </a:solidFill>
                <a:latin typeface="JetBrains Mono"/>
              </a:rPr>
              <a:t>- D+1 후기 유도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9700" y="5124450"/>
            <a:ext cx="76581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9ED12"/>
                </a:solidFill>
                <a:latin typeface="JetBrains Mono"/>
              </a:rPr>
              <a:t>## 타겟팅 예외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9700" y="5334000"/>
            <a:ext cx="76581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AEAEA"/>
                </a:solidFill>
                <a:latin typeface="JetBrains Mono"/>
              </a:rPr>
              <a:t>- 수신거부 자동 제외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9700" y="5543550"/>
            <a:ext cx="76581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AEAEA"/>
                </a:solidFill>
                <a:latin typeface="JetBrains Mono"/>
              </a:rPr>
              <a:t>- 최근 30일 이탈자 제외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29700" y="5753100"/>
            <a:ext cx="76581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AEAEA"/>
                </a:solidFill>
                <a:latin typeface="JetBrains Mono"/>
              </a:rPr>
              <a:t>- VIP는 별도 템플릿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9700" y="6134100"/>
            <a:ext cx="76581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9ED12"/>
                </a:solidFill>
                <a:latin typeface="JetBrains Mono"/>
              </a:rPr>
              <a:t>## 링크 규칙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9700" y="6343650"/>
            <a:ext cx="76581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AEAEA"/>
                </a:solidFill>
                <a:latin typeface="JetBrains Mono"/>
              </a:rPr>
              <a:t>- 공유회 상세: event.selfishclub.co/:id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9700" y="6553200"/>
            <a:ext cx="76581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AEAEA"/>
                </a:solidFill>
                <a:latin typeface="JetBrains Mono"/>
              </a:rPr>
              <a:t>- UTM: utm_source=kakao&amp;utm_medium=alimtalk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29700" y="6762750"/>
            <a:ext cx="76581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AEAEA"/>
                </a:solidFill>
                <a:latin typeface="JetBrains Mono"/>
              </a:rPr>
              <a:t>- 단축: s.slfc.to/ 항상 사용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29700" y="7143750"/>
            <a:ext cx="76581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9ED12"/>
                </a:solidFill>
                <a:latin typeface="JetBrains Mono"/>
              </a:rPr>
              <a:t>## 변수 네이밍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29700" y="7353300"/>
            <a:ext cx="76581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AEAEA"/>
                </a:solidFill>
                <a:latin typeface="JetBrains Mono"/>
              </a:rPr>
              <a:t>- {{member_name}} / {{event_title}}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29700" y="7562850"/>
            <a:ext cx="76581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AEAEA"/>
                </a:solidFill>
                <a:latin typeface="JetBrains Mono"/>
              </a:rPr>
              <a:t>- 날짜 포맷: YYYY.MM.DD (HH:mm)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29700" y="7943850"/>
            <a:ext cx="76581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A6A6A"/>
                </a:solidFill>
                <a:latin typeface="JetBrains Mono"/>
              </a:rPr>
              <a:t>... 계속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621000" y="2476500"/>
            <a:ext cx="1143000" cy="323850"/>
          </a:xfrm>
          <a:prstGeom prst="roundRect">
            <a:avLst>
              <a:gd name="adj" fmla="val 17647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621000" y="25336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spc="140">
                <a:solidFill>
                  <a:srgbClr val="E9ED12"/>
                </a:solidFill>
                <a:latin typeface="Pretendard Variable"/>
              </a:rPr>
              <a:t>353 LINES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95250" cy="9525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250" y="38100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80">
                <a:solidFill>
                  <a:srgbClr val="888888"/>
                </a:solidFill>
                <a:latin typeface="Pretendard Variable"/>
              </a:rPr>
              <a:t>§ 3 · 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1000"/>
            <a:ext cx="762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spc="180">
                <a:solidFill>
                  <a:srgbClr val="888888"/>
                </a:solidFill>
                <a:latin typeface="Pretendard Variable"/>
              </a:rPr>
              <a:t>EMILY · SELFISH CLUB · 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1714500"/>
            <a:ext cx="1333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spc="220">
                <a:solidFill>
                  <a:srgbClr val="777777"/>
                </a:solidFill>
                <a:latin typeface="Pretendard Variable"/>
              </a:rPr>
              <a:t>그래서 그냥 걔한테 물어봤어요.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476500"/>
            <a:ext cx="15621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200">
                <a:solidFill>
                  <a:srgbClr val="999999"/>
                </a:solidFill>
                <a:latin typeface="Pretendard Variable"/>
              </a:rPr>
              <a:t>TO: CLAUDE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3143250"/>
            <a:ext cx="15621000" cy="476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0" b="1" spc="-40">
                <a:solidFill>
                  <a:srgbClr val="0A0A0A"/>
                </a:solidFill>
                <a:latin typeface="Pretendard Variable"/>
              </a:rPr>
              <a:t>"너한테 기억 잘 주려면</a:t>
            </a:r>
          </a:p>
          <a:p>
            <a:pPr algn="l">
              <a:lnSpc>
                <a:spcPct val="115000"/>
              </a:lnSpc>
            </a:pPr>
            <a:r>
              <a:rPr sz="8800" b="1" spc="-40">
                <a:solidFill>
                  <a:srgbClr val="0A0A0A"/>
                </a:solidFill>
                <a:latin typeface="Pretendard Variable"/>
              </a:rPr>
              <a:t>뭘 가져야 해?</a:t>
            </a:r>
          </a:p>
          <a:p>
            <a:pPr algn="l">
              <a:lnSpc>
                <a:spcPct val="115000"/>
              </a:lnSpc>
            </a:pPr>
            <a:r>
              <a:rPr sz="8800" b="1" spc="-40">
                <a:solidFill>
                  <a:srgbClr val="0A0A0A"/>
                </a:solidFill>
                <a:latin typeface="Pretendard Variable"/>
              </a:rPr>
              <a:t>…네가 생각하는 </a:t>
            </a:r>
            <a:r>
              <a:rPr sz="8800" b="1" spc="-40">
                <a:solidFill>
                  <a:srgbClr val="0A0A0A"/>
                </a:solidFill>
                <a:latin typeface="Pretendard Variable"/>
                <a:highlight>
                  <a:solidFill>
                    <a:srgbClr val="E9ED12"/>
                  </a:solidFill>
                </a:highlight>
              </a:rPr>
              <a:t>하네스</a:t>
            </a:r>
            <a:r>
              <a:rPr sz="8800" b="1" spc="-40">
                <a:solidFill>
                  <a:srgbClr val="0A0A0A"/>
                </a:solidFill>
                <a:latin typeface="Pretendard Variable"/>
              </a:rPr>
              <a:t>는 뭐야?"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8572500"/>
            <a:ext cx="15621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666666"/>
                </a:solidFill>
                <a:latin typeface="Pretendard Variable"/>
              </a:rPr>
              <a:t>AAA팀에서 '하네스'라는 단어만 언뜻 들었던 참이었거든요.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95250" cy="9525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250" y="38100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80">
                <a:solidFill>
                  <a:srgbClr val="888888"/>
                </a:solidFill>
                <a:latin typeface="Pretendard Variable"/>
              </a:rPr>
              <a:t>§ 3 · 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1000"/>
            <a:ext cx="762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spc="180">
                <a:solidFill>
                  <a:srgbClr val="888888"/>
                </a:solidFill>
                <a:latin typeface="Pretendard Variable"/>
              </a:rPr>
              <a:t>EMILY · SELFISH CLUB · 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1524000"/>
            <a:ext cx="1333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spc="220">
                <a:solidFill>
                  <a:srgbClr val="777777"/>
                </a:solidFill>
                <a:latin typeface="Pretendard Variable"/>
              </a:rPr>
              <a:t>걔가 답해준 거 정리해보니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000250"/>
            <a:ext cx="15621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spc="-35">
                <a:solidFill>
                  <a:srgbClr val="0A0A0A"/>
                </a:solidFill>
                <a:latin typeface="Pretendard Variable"/>
              </a:rPr>
              <a:t>세 가지로 모이더라고요.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3500" y="3619500"/>
            <a:ext cx="5143500" cy="457200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14500" y="4000500"/>
            <a:ext cx="438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AAAAA"/>
                </a:solidFill>
                <a:latin typeface="Pretendard Variable"/>
              </a:rPr>
              <a:t>01 / 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4500" y="4476750"/>
            <a:ext cx="4381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0A0A0A"/>
                </a:solidFill>
                <a:latin typeface="Pretendard Variable"/>
              </a:rPr>
              <a:t>공간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4500" y="5524500"/>
            <a:ext cx="438150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>
                <a:solidFill>
                  <a:srgbClr val="0A0A0A"/>
                </a:solidFill>
                <a:latin typeface="Pretendard Variable"/>
              </a:rPr>
              <a:t>기록이 쌓일 자리를 만들어주기.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14500" y="7239000"/>
            <a:ext cx="4381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77777"/>
                </a:solidFill>
                <a:latin typeface="Pretendard Variable"/>
              </a:rPr>
              <a:t>폴더 구조 · 파일 네이밍 규칙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500" y="3619500"/>
            <a:ext cx="5143500" cy="457200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8500" y="4000500"/>
            <a:ext cx="438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AAAAA"/>
                </a:solidFill>
                <a:latin typeface="Pretendard Variable"/>
              </a:rPr>
              <a:t>02 /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8500" y="4476750"/>
            <a:ext cx="4381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0A0A0A"/>
                </a:solidFill>
                <a:latin typeface="Pretendard Variable"/>
              </a:rPr>
              <a:t>기억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8500" y="5524500"/>
            <a:ext cx="438150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>
                <a:solidFill>
                  <a:srgbClr val="0A0A0A"/>
                </a:solidFill>
                <a:latin typeface="Pretendard Variable"/>
              </a:rPr>
              <a:t>세션 시작할 때 자동으로 읽게 만들기.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8500" y="7239000"/>
            <a:ext cx="4381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77777"/>
                </a:solidFill>
                <a:latin typeface="Pretendard Variable"/>
              </a:rPr>
              <a:t>MEMORY.md · 자동 로드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001500" y="3619500"/>
            <a:ext cx="5143500" cy="457200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82500" y="4000500"/>
            <a:ext cx="438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AAAAA"/>
                </a:solidFill>
                <a:latin typeface="Pretendard Variable"/>
              </a:rPr>
              <a:t>03 /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2500" y="4476750"/>
            <a:ext cx="4381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0A0A0A"/>
                </a:solidFill>
                <a:latin typeface="Pretendard Variable"/>
              </a:rPr>
              <a:t>학습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82500" y="5524500"/>
            <a:ext cx="438150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>
                <a:solidFill>
                  <a:srgbClr val="0A0A0A"/>
                </a:solidFill>
                <a:latin typeface="Pretendard Variable"/>
              </a:rPr>
              <a:t>규칙을 안 지키면 막게 만들기.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82500" y="7239000"/>
            <a:ext cx="4381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77777"/>
                </a:solidFill>
                <a:latin typeface="Pretendard Variable"/>
              </a:rPr>
              <a:t>pre-commit 훅 · 커밋 차단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3500" y="8572500"/>
            <a:ext cx="15621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0A0A0A"/>
                </a:solidFill>
                <a:latin typeface="Pretendard Variable"/>
              </a:rPr>
              <a:t>적용해보니 잘 돌더라고요. 알고 보니 이게 </a:t>
            </a:r>
            <a:r>
              <a:rPr sz="2000" b="1">
                <a:solidFill>
                  <a:srgbClr val="0A0A0A"/>
                </a:solidFill>
                <a:latin typeface="Pretendard Variable"/>
              </a:rPr>
              <a:t>'하네스'</a:t>
            </a:r>
            <a:r>
              <a:rPr sz="2000" b="0">
                <a:solidFill>
                  <a:srgbClr val="0A0A0A"/>
                </a:solidFill>
                <a:latin typeface="Pretendard Variable"/>
              </a:rPr>
              <a:t>였던 거예요.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95250" cy="9525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250" y="38100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80">
                <a:solidFill>
                  <a:srgbClr val="666666"/>
                </a:solidFill>
                <a:latin typeface="Pretendard Variable"/>
              </a:rPr>
              <a:t>§ 3 · 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1000"/>
            <a:ext cx="762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spc="180">
                <a:solidFill>
                  <a:srgbClr val="666666"/>
                </a:solidFill>
                <a:latin typeface="Pretendard Variable"/>
              </a:rPr>
              <a:t>EMILY · SELFISH CLUB · 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1714500"/>
            <a:ext cx="15621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spc="220">
                <a:solidFill>
                  <a:srgbClr val="999999"/>
                </a:solidFill>
                <a:latin typeface="Pretendard Variable"/>
              </a:rPr>
              <a:t>근데 이게 말로만 들으면 감이 안 와요.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667000"/>
            <a:ext cx="15621000" cy="476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000" b="1" spc="-40">
                <a:solidFill>
                  <a:srgbClr val="FFFFFF"/>
                </a:solidFill>
                <a:latin typeface="Pretendard Variable"/>
              </a:rPr>
              <a:t>실제로는 이렇게</a:t>
            </a:r>
          </a:p>
          <a:p>
            <a:pPr algn="l">
              <a:lnSpc>
                <a:spcPct val="102000"/>
              </a:lnSpc>
            </a:pPr>
            <a:r>
              <a:rPr sz="13000" b="1" spc="-40">
                <a:solidFill>
                  <a:srgbClr val="0A0A0A"/>
                </a:solidFill>
                <a:latin typeface="Pretendard Variable"/>
                <a:highlight>
                  <a:solidFill>
                    <a:srgbClr val="E9ED12"/>
                  </a:solidFill>
                </a:highlight>
              </a:rPr>
              <a:t>작동</a:t>
            </a:r>
            <a:r>
              <a:rPr sz="13000" b="1" spc="-40">
                <a:solidFill>
                  <a:srgbClr val="FFFFFF"/>
                </a:solidFill>
                <a:latin typeface="Pretendard Variable"/>
              </a:rPr>
              <a:t>해요.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8572500"/>
            <a:ext cx="15621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BBBBBB"/>
                </a:solidFill>
                <a:latin typeface="Pretendard Variable"/>
              </a:rPr>
              <a:t>MEMORY.md 인덱스 갱신 — 한 장면에 3축이 다 걸려 있어요.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95250" cy="9525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250" y="38100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80">
                <a:solidFill>
                  <a:srgbClr val="888888"/>
                </a:solidFill>
                <a:latin typeface="Pretendard Variable"/>
              </a:rPr>
              <a:t>§ 3 · 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1000"/>
            <a:ext cx="762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spc="180">
                <a:solidFill>
                  <a:srgbClr val="888888"/>
                </a:solidFill>
                <a:latin typeface="Pretendard Variable"/>
              </a:rPr>
              <a:t>EMILY · SELFISH CLUB · 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1333500"/>
            <a:ext cx="1333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spc="220">
                <a:solidFill>
                  <a:srgbClr val="777777"/>
                </a:solidFill>
                <a:latin typeface="Pretendard Variable"/>
              </a:rPr>
              <a:t>세션 저장 → 커밋 차단 → 인덱스 추가.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1809750"/>
            <a:ext cx="15621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spc="-35">
                <a:solidFill>
                  <a:srgbClr val="0A0A0A"/>
                </a:solidFill>
                <a:latin typeface="Pretendard Variable"/>
              </a:rPr>
              <a:t>이 한 </a:t>
            </a:r>
            <a:r>
              <a:rPr sz="4000" b="1" spc="-35">
                <a:solidFill>
                  <a:srgbClr val="0A0A0A"/>
                </a:solidFill>
                <a:latin typeface="Pretendard Variable"/>
                <a:highlight>
                  <a:solidFill>
                    <a:srgbClr val="E9ED12"/>
                  </a:solidFill>
                </a:highlight>
              </a:rPr>
              <a:t>사이클</a:t>
            </a:r>
            <a:r>
              <a:rPr sz="4000" b="1" spc="-35">
                <a:solidFill>
                  <a:srgbClr val="0A0A0A"/>
                </a:solidFill>
                <a:latin typeface="Pretendard Variable"/>
              </a:rPr>
              <a:t>이 곧 하네스가 돌아가는 모습이에요.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3500" y="3238500"/>
            <a:ext cx="7905750" cy="4572000"/>
          </a:xfrm>
          <a:prstGeom prst="roundRect">
            <a:avLst>
              <a:gd name="adj" fmla="val 3333"/>
            </a:avLst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3505200"/>
            <a:ext cx="73723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888888"/>
                </a:solidFill>
                <a:latin typeface="Pretendard Variable"/>
              </a:rPr>
              <a:t>공간 · 폴더 구조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905250"/>
            <a:ext cx="73723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JetBrains Mono"/>
              </a:rPr>
              <a:t>📁 memory/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4171950"/>
            <a:ext cx="73723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JetBrains Mono"/>
              </a:rPr>
              <a:t>├─ MEMORY.md   ← 인덱스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4438650"/>
            <a:ext cx="73723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JetBrains Mono"/>
              </a:rPr>
              <a:t>├─ session_0418_aaa.md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4705350"/>
            <a:ext cx="73723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JetBrains Mono"/>
              </a:rPr>
              <a:t>├─ session_0421_crm.md  [new]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972050"/>
            <a:ext cx="73723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JetBrains Mono"/>
              </a:rPr>
              <a:t>├─ feedback_0419.md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5238750"/>
            <a:ext cx="73723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JetBrains Mono"/>
              </a:rPr>
              <a:t>└─ 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5505450"/>
            <a:ext cx="73723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JetBrains Mono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5772150"/>
            <a:ext cx="73723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JetBrains Mono"/>
              </a:rPr>
              <a:t>📁 .husky/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6038850"/>
            <a:ext cx="73723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JetBrains Mono"/>
              </a:rPr>
              <a:t>└─ pre-commit   ← 검사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7143750"/>
            <a:ext cx="73723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Pretendard Variable"/>
              </a:rPr>
              <a:t>세션 파일이 쌓이면 MEMORY.md에도 한 줄 추가돼야 함.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29750" y="3238500"/>
            <a:ext cx="7524750" cy="4572000"/>
          </a:xfrm>
          <a:prstGeom prst="roundRect">
            <a:avLst>
              <a:gd name="adj" fmla="val 3333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6450" y="3505200"/>
            <a:ext cx="69913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E9ED12"/>
                </a:solidFill>
                <a:latin typeface="Pretendard Variable"/>
              </a:rPr>
              <a:t>학습 · PRE-COMMIT 훅이 막음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6450" y="4000500"/>
            <a:ext cx="69913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JetBrains Mono"/>
              </a:rPr>
              <a:t>$</a:t>
            </a:r>
            <a:r>
              <a:rPr sz="1200" b="0">
                <a:solidFill>
                  <a:srgbClr val="EAEAEA"/>
                </a:solidFill>
                <a:latin typeface="JetBrains Mono"/>
              </a:rPr>
              <a:t> git commit -m "add session_0421"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6450" y="4457700"/>
            <a:ext cx="69913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JetBrains Mono"/>
              </a:rPr>
              <a:t>running pre-commit…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6450" y="4686300"/>
            <a:ext cx="69913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ECC7A"/>
                </a:solidFill>
                <a:latin typeface="JetBrains Mono"/>
              </a:rPr>
              <a:t>✓ lint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6450" y="4914900"/>
            <a:ext cx="69913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ECC7A"/>
                </a:solidFill>
                <a:latin typeface="JetBrains Mono"/>
              </a:rPr>
              <a:t>✓ type-check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6450" y="5143500"/>
            <a:ext cx="69913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5A5A"/>
                </a:solidFill>
                <a:latin typeface="JetBrains Mono"/>
              </a:rPr>
              <a:t>✗ memory-index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6450" y="5486400"/>
            <a:ext cx="69913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5A5A"/>
                </a:solidFill>
                <a:latin typeface="JetBrains Mono"/>
              </a:rPr>
              <a:t>❌ 인덱스 누락 1건 — MEMORY.md에 추가 필요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6450" y="5715000"/>
            <a:ext cx="69913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BBBBB"/>
                </a:solidFill>
                <a:latin typeface="JetBrains Mono"/>
              </a:rPr>
              <a:t>· memory/session_0421_crm.md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6450" y="6057900"/>
            <a:ext cx="69913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5A5A"/>
                </a:solidFill>
                <a:latin typeface="JetBrains Mono"/>
              </a:rPr>
              <a:t>commit aborted.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33500" y="8286750"/>
            <a:ext cx="5143500" cy="762000"/>
          </a:xfrm>
          <a:prstGeom prst="roundRect">
            <a:avLst>
              <a:gd name="adj" fmla="val 12500"/>
            </a:avLst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24000" y="84010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180">
                <a:solidFill>
                  <a:srgbClr val="3A3B00"/>
                </a:solidFill>
                <a:latin typeface="Pretendard Variable"/>
              </a:rPr>
              <a:t>SPACE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" y="8667750"/>
            <a:ext cx="476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A0A0A"/>
                </a:solidFill>
                <a:latin typeface="Pretendard Variable"/>
              </a:rPr>
              <a:t>폴더 구조가 자리를 만듦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67500" y="8286750"/>
            <a:ext cx="5143500" cy="762000"/>
          </a:xfrm>
          <a:prstGeom prst="roundRect">
            <a:avLst>
              <a:gd name="adj" fmla="val 12500"/>
            </a:avLst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84010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180">
                <a:solidFill>
                  <a:srgbClr val="3A3B00"/>
                </a:solidFill>
                <a:latin typeface="Pretendard Variable"/>
              </a:rPr>
              <a:t>MEMORY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8667750"/>
            <a:ext cx="476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A0A0A"/>
                </a:solidFill>
                <a:latin typeface="Pretendard Variable"/>
              </a:rPr>
              <a:t>MEMORY.md가 매 세션 자동 로드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001500" y="8286750"/>
            <a:ext cx="5143500" cy="762000"/>
          </a:xfrm>
          <a:prstGeom prst="roundRect">
            <a:avLst>
              <a:gd name="adj" fmla="val 12500"/>
            </a:avLst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192000" y="84010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180">
                <a:solidFill>
                  <a:srgbClr val="3A3B00"/>
                </a:solidFill>
                <a:latin typeface="Pretendard Variable"/>
              </a:rPr>
              <a:t>LEARNING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92000" y="8667750"/>
            <a:ext cx="476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A0A0A"/>
                </a:solidFill>
                <a:latin typeface="Pretendard Variable"/>
              </a:rPr>
              <a:t>훅이 규칙을 강제함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95250" cy="9525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250" y="38100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80">
                <a:solidFill>
                  <a:srgbClr val="888888"/>
                </a:solidFill>
                <a:latin typeface="Pretendard Variable"/>
              </a:rPr>
              <a:t>§ 4 · 유즈케이스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1000"/>
            <a:ext cx="762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spc="180">
                <a:solidFill>
                  <a:srgbClr val="888888"/>
                </a:solidFill>
                <a:latin typeface="Pretendard Variable"/>
              </a:rPr>
              <a:t>EMILY · SELFISH CLUB · AAA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1524000"/>
            <a:ext cx="1619250" cy="323850"/>
          </a:xfrm>
          <a:prstGeom prst="roundRect">
            <a:avLst>
              <a:gd name="adj" fmla="val 11764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33500" y="1581150"/>
            <a:ext cx="1619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spc="180">
                <a:solidFill>
                  <a:srgbClr val="E9ED12"/>
                </a:solidFill>
                <a:latin typeface="Pretendard Variable"/>
              </a:rPr>
              <a:t>USE CASE 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095500"/>
            <a:ext cx="1562100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spc="-35">
                <a:solidFill>
                  <a:srgbClr val="0A0A0A"/>
                </a:solidFill>
                <a:latin typeface="Pretendard Variable"/>
              </a:rPr>
              <a:t>규칙을 </a:t>
            </a:r>
            <a:r>
              <a:rPr sz="5200" b="1" spc="-35">
                <a:solidFill>
                  <a:srgbClr val="0A0A0A"/>
                </a:solidFill>
                <a:latin typeface="Pretendard Variable"/>
                <a:highlight>
                  <a:solidFill>
                    <a:srgbClr val="E9ED12"/>
                  </a:solidFill>
                </a:highlight>
              </a:rPr>
              <a:t>md 파일</a:t>
            </a:r>
            <a:r>
              <a:rPr sz="5200" b="1" spc="-35">
                <a:solidFill>
                  <a:srgbClr val="0A0A0A"/>
                </a:solidFill>
                <a:latin typeface="Pretendard Variable"/>
              </a:rPr>
              <a:t>로 빼서 AI가 읽게.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524250"/>
            <a:ext cx="15621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666666"/>
                </a:solidFill>
                <a:latin typeface="Pretendard Variable"/>
              </a:rPr>
              <a:t>353줄 CLAUDE.md → 역할별 PRD로 분리.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33500" y="4381500"/>
            <a:ext cx="7239000" cy="4000500"/>
          </a:xfrm>
          <a:prstGeom prst="roundRect">
            <a:avLst>
              <a:gd name="adj" fmla="val 3809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38300" y="4667250"/>
            <a:ext cx="1238250" cy="285750"/>
          </a:xfrm>
          <a:prstGeom prst="roundRect">
            <a:avLst>
              <a:gd name="adj" fmla="val 13333"/>
            </a:avLst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38300" y="4714875"/>
            <a:ext cx="1238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spc="180">
                <a:solidFill>
                  <a:srgbClr val="444444"/>
                </a:solidFill>
                <a:latin typeface="Pretendard Variable"/>
              </a:rPr>
              <a:t>BEFORE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8300" y="5143500"/>
            <a:ext cx="66294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A0A0A"/>
                </a:solidFill>
                <a:latin typeface="Pretendard Variable"/>
              </a:rPr>
              <a:t>CLAUDE.md 하나에 다 박음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38300" y="5810250"/>
            <a:ext cx="6629400" cy="180975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6000750"/>
            <a:ext cx="6248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A0A0A"/>
                </a:solidFill>
                <a:latin typeface="Pretendard Variable"/>
              </a:rPr>
              <a:t>📄 CLAUDE.md  353 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6381750"/>
            <a:ext cx="6248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300" b="0">
                <a:solidFill>
                  <a:srgbClr val="555555"/>
                </a:solidFill>
                <a:latin typeface="JetBrains Mono"/>
              </a:rPr>
              <a:t>톤 · 타이밍 · 타겟 · 링크 ·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555555"/>
                </a:solidFill>
                <a:latin typeface="JetBrains Mono"/>
              </a:rPr>
              <a:t>변수 · 예외 · 채널별 규칙…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555555"/>
                </a:solidFill>
                <a:latin typeface="JetBrains Mono"/>
              </a:rPr>
              <a:t>(전부 한 파일)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38300" y="7810500"/>
            <a:ext cx="6629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4343B"/>
                </a:solidFill>
                <a:latin typeface="Pretendard Variable"/>
              </a:rPr>
              <a:t>→ 길어서 AI가 끝까지 안 읽음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7750" y="6096000"/>
            <a:ext cx="952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0" b="0">
                <a:solidFill>
                  <a:srgbClr val="BBBBBB"/>
                </a:solidFill>
                <a:latin typeface="Pretendard Variable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15500" y="4381500"/>
            <a:ext cx="7239000" cy="4000500"/>
          </a:xfrm>
          <a:prstGeom prst="roundRect">
            <a:avLst>
              <a:gd name="adj" fmla="val 3809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020300" y="4667250"/>
            <a:ext cx="1238250" cy="285750"/>
          </a:xfrm>
          <a:prstGeom prst="roundRect">
            <a:avLst>
              <a:gd name="adj" fmla="val 13333"/>
            </a:avLst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20300" y="4714875"/>
            <a:ext cx="1238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spc="180">
                <a:solidFill>
                  <a:srgbClr val="0A0A0A"/>
                </a:solidFill>
                <a:latin typeface="Pretendard Variable"/>
              </a:rPr>
              <a:t>AFTER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20300" y="5143500"/>
            <a:ext cx="66294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retendard Variable"/>
              </a:rPr>
              <a:t>역할별 PRD로 쪼갬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20300" y="5810250"/>
            <a:ext cx="6629400" cy="1809750"/>
          </a:xfrm>
          <a:prstGeom prst="roundRect">
            <a:avLst>
              <a:gd name="adj" fmla="val 5263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10800" y="6000750"/>
            <a:ext cx="62484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9ED12"/>
                </a:solidFill>
                <a:latin typeface="JetBrains Mono"/>
              </a:rPr>
              <a:t>📁 prd/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10800" y="6267450"/>
            <a:ext cx="62484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9ED12"/>
                </a:solidFill>
                <a:latin typeface="JetBrains Mono"/>
              </a:rPr>
              <a:t>├─ alimtalk.md   알림톡 규칙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10800" y="6534150"/>
            <a:ext cx="62484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9ED12"/>
                </a:solidFill>
                <a:latin typeface="JetBrains Mono"/>
              </a:rPr>
              <a:t>├─ tone.md         톤앤매너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10800" y="6800850"/>
            <a:ext cx="62484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9ED12"/>
                </a:solidFill>
                <a:latin typeface="JetBrains Mono"/>
              </a:rPr>
              <a:t>├─ targeting.md  예외 규칙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0800" y="7067550"/>
            <a:ext cx="62484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9ED12"/>
                </a:solidFill>
                <a:latin typeface="JetBrains Mono"/>
              </a:rPr>
              <a:t>└─ links.md        UTM · 단축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20300" y="7810500"/>
            <a:ext cx="6629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9ED12"/>
                </a:solidFill>
                <a:latin typeface="Pretendard Variable"/>
              </a:rPr>
              <a:t>→ AI가 그때그때 필요한 것만 로드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95250" cy="9525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250" y="38100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80">
                <a:solidFill>
                  <a:srgbClr val="888888"/>
                </a:solidFill>
                <a:latin typeface="Pretendard Variable"/>
              </a:rPr>
              <a:t>§ 4 · 유즈케이스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1000"/>
            <a:ext cx="762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spc="180">
                <a:solidFill>
                  <a:srgbClr val="888888"/>
                </a:solidFill>
                <a:latin typeface="Pretendard Variable"/>
              </a:rPr>
              <a:t>EMILY · SELFISH CLUB · AAA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1524000"/>
            <a:ext cx="1619250" cy="323850"/>
          </a:xfrm>
          <a:prstGeom prst="roundRect">
            <a:avLst>
              <a:gd name="adj" fmla="val 11764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33500" y="1581150"/>
            <a:ext cx="1619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spc="180">
                <a:solidFill>
                  <a:srgbClr val="E9ED12"/>
                </a:solidFill>
                <a:latin typeface="Pretendard Variable"/>
              </a:rPr>
              <a:t>USE CASE 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095500"/>
            <a:ext cx="1562100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spc="-35">
                <a:solidFill>
                  <a:srgbClr val="0A0A0A"/>
                </a:solidFill>
                <a:latin typeface="Pretendard Variable"/>
                <a:highlight>
                  <a:solidFill>
                    <a:srgbClr val="E9ED12"/>
                  </a:solidFill>
                </a:highlight>
              </a:rPr>
              <a:t>에이전트 8개</a:t>
            </a:r>
            <a:r>
              <a:rPr sz="5200" b="1" spc="-35">
                <a:solidFill>
                  <a:srgbClr val="0A0A0A"/>
                </a:solidFill>
                <a:latin typeface="Pretendard Variable"/>
              </a:rPr>
              <a:t>, 역할을 쪼갰어요.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524250"/>
            <a:ext cx="15621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666666"/>
                </a:solidFill>
                <a:latin typeface="Pretendard Variable"/>
              </a:rPr>
              <a:t>한 명이 다 하는 대신, 직원 여덟 명처럼.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33500" y="4191000"/>
            <a:ext cx="3810000" cy="1714500"/>
          </a:xfrm>
          <a:prstGeom prst="roundRect">
            <a:avLst>
              <a:gd name="adj" fmla="val 8888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0200" y="4419600"/>
            <a:ext cx="32766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99999"/>
                </a:solidFill>
                <a:latin typeface="Pretendard Variable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4762500"/>
            <a:ext cx="32766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A0A0A"/>
                </a:solidFill>
                <a:latin typeface="JetBrains Mono"/>
              </a:rPr>
              <a:t>director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5334000"/>
            <a:ext cx="3276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 Variable"/>
              </a:rPr>
              <a:t>전체 흐름 지휘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76850" y="4191000"/>
            <a:ext cx="3810000" cy="1714500"/>
          </a:xfrm>
          <a:prstGeom prst="roundRect">
            <a:avLst>
              <a:gd name="adj" fmla="val 8888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43550" y="4419600"/>
            <a:ext cx="32766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99999"/>
                </a:solidFill>
                <a:latin typeface="Pretendard Variable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43550" y="4762500"/>
            <a:ext cx="32766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A0A0A"/>
                </a:solidFill>
                <a:latin typeface="JetBrains Mono"/>
              </a:rPr>
              <a:t>copywriter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43550" y="5334000"/>
            <a:ext cx="3276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 Variable"/>
              </a:rPr>
              <a:t>카피 초안 작성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20200" y="4191000"/>
            <a:ext cx="3810000" cy="1714500"/>
          </a:xfrm>
          <a:prstGeom prst="roundRect">
            <a:avLst>
              <a:gd name="adj" fmla="val 8888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86900" y="4419600"/>
            <a:ext cx="32766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99999"/>
                </a:solidFill>
                <a:latin typeface="Pretendard Variable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6900" y="4762500"/>
            <a:ext cx="32766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A0A0A"/>
                </a:solidFill>
                <a:latin typeface="JetBrains Mono"/>
              </a:rPr>
              <a:t>data-collector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86900" y="5334000"/>
            <a:ext cx="3276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 Variable"/>
              </a:rPr>
              <a:t>DB에서 타겟 조회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163550" y="4191000"/>
            <a:ext cx="3810000" cy="1714500"/>
          </a:xfrm>
          <a:prstGeom prst="roundRect">
            <a:avLst>
              <a:gd name="adj" fmla="val 8888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430250" y="4419600"/>
            <a:ext cx="32766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99999"/>
                </a:solidFill>
                <a:latin typeface="Pretendard Variable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30250" y="4762500"/>
            <a:ext cx="32766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A0A0A"/>
                </a:solidFill>
                <a:latin typeface="JetBrains Mono"/>
              </a:rPr>
              <a:t>dispatcher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30250" y="5334000"/>
            <a:ext cx="3276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 Variable"/>
              </a:rPr>
              <a:t>실제 발송 트리거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33500" y="6038850"/>
            <a:ext cx="3810000" cy="1714500"/>
          </a:xfrm>
          <a:prstGeom prst="roundRect">
            <a:avLst>
              <a:gd name="adj" fmla="val 8888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00200" y="6267450"/>
            <a:ext cx="32766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99999"/>
                </a:solidFill>
                <a:latin typeface="Pretendard Variable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6610350"/>
            <a:ext cx="32766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A0A0A"/>
                </a:solidFill>
                <a:latin typeface="JetBrains Mono"/>
              </a:rPr>
              <a:t>verifier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7181850"/>
            <a:ext cx="3276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 Variable"/>
              </a:rPr>
              <a:t>링크·변수 검수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76850" y="6038850"/>
            <a:ext cx="3810000" cy="1714500"/>
          </a:xfrm>
          <a:prstGeom prst="roundRect">
            <a:avLst>
              <a:gd name="adj" fmla="val 8888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43550" y="6267450"/>
            <a:ext cx="32766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99999"/>
                </a:solidFill>
                <a:latin typeface="Pretendard Variable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43550" y="6610350"/>
            <a:ext cx="32766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A0A0A"/>
                </a:solidFill>
                <a:latin typeface="JetBrains Mono"/>
              </a:rPr>
              <a:t>scheduler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43550" y="7181850"/>
            <a:ext cx="3276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 Variable"/>
              </a:rPr>
              <a:t>예약 시점 관리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20200" y="6038850"/>
            <a:ext cx="3810000" cy="1714500"/>
          </a:xfrm>
          <a:prstGeom prst="roundRect">
            <a:avLst>
              <a:gd name="adj" fmla="val 8888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86900" y="6267450"/>
            <a:ext cx="32766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99999"/>
                </a:solidFill>
                <a:latin typeface="Pretendard Variable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86900" y="6610350"/>
            <a:ext cx="32766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A0A0A"/>
                </a:solidFill>
                <a:latin typeface="JetBrains Mono"/>
              </a:rPr>
              <a:t>reporter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86900" y="7181850"/>
            <a:ext cx="3276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 Variable"/>
              </a:rPr>
              <a:t>발송 리포트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3163550" y="6038850"/>
            <a:ext cx="3810000" cy="1714500"/>
          </a:xfrm>
          <a:prstGeom prst="roundRect">
            <a:avLst>
              <a:gd name="adj" fmla="val 8888"/>
            </a:avLst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430250" y="6267450"/>
            <a:ext cx="32766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A3B00"/>
                </a:solidFill>
                <a:latin typeface="Pretendard Variable"/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30250" y="6610350"/>
            <a:ext cx="32766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A0A0A"/>
                </a:solidFill>
                <a:latin typeface="JetBrains Mono"/>
              </a:rPr>
              <a:t>code-reviewer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430250" y="7181850"/>
            <a:ext cx="3276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A3B00"/>
                </a:solidFill>
                <a:latin typeface="Pretendard Variable"/>
              </a:rPr>
              <a:t>검수 게이트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33500" y="8096250"/>
            <a:ext cx="15621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Pretendard Variable"/>
              </a:rPr>
              <a:t>↑ code-reviewer는 AAA 과제 중에 '검수가 필요하다'는 걸 깨닫고 뒤늦게 추가한 역할이에요.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95250" cy="9525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250" y="38100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80">
                <a:solidFill>
                  <a:srgbClr val="888888"/>
                </a:solidFill>
                <a:latin typeface="Pretendard Variable"/>
              </a:rPr>
              <a:t>§ 4 · 유즈케이스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1000"/>
            <a:ext cx="762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spc="180">
                <a:solidFill>
                  <a:srgbClr val="888888"/>
                </a:solidFill>
                <a:latin typeface="Pretendard Variable"/>
              </a:rPr>
              <a:t>EMILY · SELFISH CLUB · AAA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1524000"/>
            <a:ext cx="1619250" cy="323850"/>
          </a:xfrm>
          <a:prstGeom prst="roundRect">
            <a:avLst>
              <a:gd name="adj" fmla="val 11764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33500" y="1581150"/>
            <a:ext cx="1619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spc="180">
                <a:solidFill>
                  <a:srgbClr val="E9ED12"/>
                </a:solidFill>
                <a:latin typeface="Pretendard Variable"/>
              </a:rPr>
              <a:t>USE CASE 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095500"/>
            <a:ext cx="1562100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spc="-35">
                <a:solidFill>
                  <a:srgbClr val="0A0A0A"/>
                </a:solidFill>
                <a:latin typeface="Pretendard Variable"/>
              </a:rPr>
              <a:t>발송이 </a:t>
            </a:r>
            <a:r>
              <a:rPr sz="4800" b="1" spc="-35">
                <a:solidFill>
                  <a:srgbClr val="0A0A0A"/>
                </a:solidFill>
                <a:latin typeface="Pretendard Variable"/>
                <a:highlight>
                  <a:solidFill>
                    <a:srgbClr val="E9ED12"/>
                  </a:solidFill>
                </a:highlight>
              </a:rPr>
              <a:t>다음 발송</a:t>
            </a:r>
            <a:r>
              <a:rPr sz="4800" b="1" spc="-35">
                <a:solidFill>
                  <a:srgbClr val="0A0A0A"/>
                </a:solidFill>
                <a:latin typeface="Pretendard Variable"/>
              </a:rPr>
              <a:t>을 만들어요.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524250"/>
            <a:ext cx="15621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666666"/>
                </a:solidFill>
                <a:latin typeface="Pretendard Variable"/>
              </a:rPr>
              <a:t>알림톡 한 번 나가면, 그다음이 자동으로 세팅돼요.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33500" y="4286250"/>
            <a:ext cx="2667000" cy="1905000"/>
          </a:xfrm>
          <a:prstGeom prst="roundRect">
            <a:avLst>
              <a:gd name="adj" fmla="val 6000"/>
            </a:avLst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43050" y="4495800"/>
            <a:ext cx="22479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rgbClr val="3A3B00"/>
                </a:solidFill>
                <a:latin typeface="Pretendard Variable"/>
              </a:rPr>
              <a:t>STEP 1 · 내가 누름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43050" y="4857750"/>
            <a:ext cx="22479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0A0A0A"/>
                </a:solidFill>
                <a:latin typeface="Pretendard Variable"/>
              </a:rPr>
              <a:t>알림톡 ①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0A0A0A"/>
                </a:solidFill>
                <a:latin typeface="Pretendard Variable"/>
              </a:rPr>
              <a:t>발송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5750" y="4953000"/>
            <a:ext cx="381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0">
                <a:solidFill>
                  <a:srgbClr val="BBBBBB"/>
                </a:solidFill>
                <a:latin typeface="Pretendard Variable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4286250"/>
            <a:ext cx="3619500" cy="1905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81550" y="449580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rgbClr val="888888"/>
                </a:solidFill>
                <a:latin typeface="Pretendard Variable"/>
              </a:rPr>
              <a:t>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1550" y="4857750"/>
            <a:ext cx="3200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0A0A0A"/>
                </a:solidFill>
                <a:latin typeface="Pretendard Variable"/>
              </a:rPr>
              <a:t>data-collector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0A0A0A"/>
                </a:solidFill>
                <a:latin typeface="Pretendard Variable"/>
              </a:rPr>
              <a:t>신청자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6750" y="4953000"/>
            <a:ext cx="381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0">
                <a:solidFill>
                  <a:srgbClr val="BBBBBB"/>
                </a:solidFill>
                <a:latin typeface="Pretendard Variable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63000" y="4286250"/>
            <a:ext cx="3619500" cy="1905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72550" y="449580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rgbClr val="888888"/>
                </a:solidFill>
                <a:latin typeface="Pretendard Variable"/>
              </a:rPr>
              <a:t>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2550" y="4857750"/>
            <a:ext cx="3200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0A0A0A"/>
                </a:solidFill>
                <a:latin typeface="Pretendard Variable"/>
              </a:rPr>
              <a:t>dispatcher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0A0A0A"/>
                </a:solidFill>
                <a:latin typeface="Pretendard Variable"/>
              </a:rPr>
              <a:t>신청자 제외 세팅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77750" y="4953000"/>
            <a:ext cx="381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0">
                <a:solidFill>
                  <a:srgbClr val="BBBBBB"/>
                </a:solidFill>
                <a:latin typeface="Pretendard Variable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954000" y="4286250"/>
            <a:ext cx="2857500" cy="1905000"/>
          </a:xfrm>
          <a:prstGeom prst="roundRect">
            <a:avLst>
              <a:gd name="adj" fmla="val 6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163550" y="4495800"/>
            <a:ext cx="2438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rgbClr val="E9ED12"/>
                </a:solidFill>
                <a:latin typeface="Pretendard Variable"/>
              </a:rPr>
              <a:t>STEP 2 · 자동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63550" y="4857750"/>
            <a:ext cx="2438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Pretendard Variable"/>
              </a:rPr>
              <a:t>미신청자 전용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Pretendard Variable"/>
              </a:rPr>
              <a:t>알림톡 ② 발송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33500" y="6477000"/>
            <a:ext cx="15621000" cy="762000"/>
          </a:xfrm>
          <a:prstGeom prst="roundRect">
            <a:avLst>
              <a:gd name="adj" fmla="val 125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19250" y="6762750"/>
            <a:ext cx="15049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9ED12"/>
                </a:solidFill>
                <a:latin typeface="Pretendard Variable"/>
              </a:rPr>
              <a:t>STEP 1만 내가 승인하면 돼요</a:t>
            </a:r>
            <a:r>
              <a:rPr sz="1800" b="0">
                <a:solidFill>
                  <a:srgbClr val="FFFFFF"/>
                </a:solidFill>
                <a:latin typeface="Pretendard Variable"/>
              </a:rPr>
              <a:t> — 나머지는 에이전트끼리 릴레이로 STEP 2를 만들어요.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3500" y="7524750"/>
            <a:ext cx="78105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66666"/>
                </a:solidFill>
                <a:latin typeface="Pretendard Variable"/>
              </a:rPr>
              <a:t>옛날엔 알림톡 ① 보내고 → 다음 날 수동으로 신청자 빼고 → 미신청자만 추려서 ② 보냄.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7524750"/>
            <a:ext cx="78105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66666"/>
                </a:solidFill>
                <a:latin typeface="Pretendard Variable"/>
              </a:rPr>
              <a:t>지금은 알림톡 ① 발송 직후에 에이전트끼리 자동으로 다음 타겟을 재조회.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95250" cy="9525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250" y="38100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80">
                <a:solidFill>
                  <a:srgbClr val="888888"/>
                </a:solidFill>
                <a:latin typeface="Pretendard Variable"/>
              </a:rPr>
              <a:t>§ 5 ·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1000"/>
            <a:ext cx="762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spc="180">
                <a:solidFill>
                  <a:srgbClr val="888888"/>
                </a:solidFill>
                <a:latin typeface="Pretendard Variable"/>
              </a:rPr>
              <a:t>EMILY · SELFISH CLUB · 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1524000"/>
            <a:ext cx="1333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spc="220">
                <a:solidFill>
                  <a:srgbClr val="777777"/>
                </a:solidFill>
                <a:latin typeface="Pretendard Variable"/>
              </a:rPr>
              <a:t>그래서 뭐가 바뀌었냐면.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2476500"/>
            <a:ext cx="15621000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3500" y="3048000"/>
            <a:ext cx="2095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60">
                <a:solidFill>
                  <a:srgbClr val="888888"/>
                </a:solidFill>
                <a:latin typeface="Pretendard Variable"/>
              </a:rPr>
              <a:t>알림톡 1건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9500" y="2667000"/>
            <a:ext cx="381000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 spc="-30">
                <a:solidFill>
                  <a:srgbClr val="999999"/>
                </a:solidFill>
                <a:latin typeface="Pretendard Variable"/>
              </a:rPr>
              <a:t>3h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0" y="2857500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0">
                <a:solidFill>
                  <a:srgbClr val="BBBBBB"/>
                </a:solidFill>
                <a:latin typeface="Pretendard Variable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53500" y="2667000"/>
            <a:ext cx="476250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 spc="-30">
                <a:solidFill>
                  <a:srgbClr val="0A0A0A"/>
                </a:solidFill>
                <a:latin typeface="Pretendard Variable"/>
                <a:highlight>
                  <a:solidFill>
                    <a:srgbClr val="E9ED12"/>
                  </a:solidFill>
                </a:highlight>
              </a:rPr>
              <a:t>5min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06500" y="3048000"/>
            <a:ext cx="3048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Pretendard Variable"/>
              </a:rPr>
              <a:t>매일 아침 슬랙 모달 한 번.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33500" y="4191000"/>
            <a:ext cx="15621000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33500" y="4762500"/>
            <a:ext cx="2095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60">
                <a:solidFill>
                  <a:srgbClr val="888888"/>
                </a:solidFill>
                <a:latin typeface="Pretendard Variable"/>
              </a:rPr>
              <a:t>공유회 준비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9500" y="4381500"/>
            <a:ext cx="381000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 spc="-30">
                <a:solidFill>
                  <a:srgbClr val="999999"/>
                </a:solidFill>
                <a:latin typeface="Pretendard Variable"/>
              </a:rPr>
              <a:t>2d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4572000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0">
                <a:solidFill>
                  <a:srgbClr val="BBBBBB"/>
                </a:solidFill>
                <a:latin typeface="Pretendard Variable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3500" y="4381500"/>
            <a:ext cx="476250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 spc="-30">
                <a:solidFill>
                  <a:srgbClr val="0A0A0A"/>
                </a:solidFill>
                <a:latin typeface="Pretendard Variable"/>
                <a:highlight>
                  <a:solidFill>
                    <a:srgbClr val="E9ED12"/>
                  </a:solidFill>
                </a:highlight>
              </a:rPr>
              <a:t>1h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906500" y="4762500"/>
            <a:ext cx="3048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Pretendard Variable"/>
              </a:rPr>
              <a:t>채널별 발송 세팅 전체.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33500" y="5905500"/>
            <a:ext cx="15621000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33500" y="6477000"/>
            <a:ext cx="2095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60">
                <a:solidFill>
                  <a:srgbClr val="888888"/>
                </a:solidFill>
                <a:latin typeface="Pretendard Variable"/>
              </a:rPr>
              <a:t>리스크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9500" y="6096000"/>
            <a:ext cx="381000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spc="-30">
                <a:solidFill>
                  <a:srgbClr val="999999"/>
                </a:solidFill>
                <a:latin typeface="Pretendard Variable"/>
              </a:rPr>
              <a:t>오타·링크 실수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0500" y="6286500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0">
                <a:solidFill>
                  <a:srgbClr val="BBBBBB"/>
                </a:solidFill>
                <a:latin typeface="Pretendard Variable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3500" y="6096000"/>
            <a:ext cx="476250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spc="-30">
                <a:solidFill>
                  <a:srgbClr val="0A0A0A"/>
                </a:solidFill>
                <a:latin typeface="Pretendard Variable"/>
                <a:highlight>
                  <a:solidFill>
                    <a:srgbClr val="E9ED12"/>
                  </a:solidFill>
                </a:highlight>
              </a:rPr>
              <a:t>검수 단계에서 차단.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06500" y="6477000"/>
            <a:ext cx="3048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Pretendard Variable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3500" y="8286750"/>
            <a:ext cx="15621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1">
                <a:solidFill>
                  <a:srgbClr val="0A0A0A"/>
                </a:solidFill>
                <a:latin typeface="Pretendard Variable"/>
              </a:rPr>
              <a:t>퇴근 직전 카피 쓰다 지쳤던 제가,</a:t>
            </a:r>
          </a:p>
          <a:p>
            <a:pPr algn="l">
              <a:lnSpc>
                <a:spcPct val="140000"/>
              </a:lnSpc>
            </a:pPr>
            <a:r>
              <a:rPr sz="2600" b="1">
                <a:solidFill>
                  <a:srgbClr val="0A0A0A"/>
                </a:solidFill>
                <a:latin typeface="Pretendard Variable"/>
                <a:highlight>
                  <a:solidFill>
                    <a:srgbClr val="E9ED12"/>
                  </a:solidFill>
                </a:highlight>
              </a:rPr>
              <a:t>맥북 닫고 집에 가도 메시지가 나가요.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95250" cy="9525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250" y="38100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80">
                <a:solidFill>
                  <a:srgbClr val="888888"/>
                </a:solidFill>
                <a:latin typeface="Pretendard Variable"/>
              </a:rPr>
              <a:t>§ 6 · 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1000"/>
            <a:ext cx="762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spc="180">
                <a:solidFill>
                  <a:srgbClr val="888888"/>
                </a:solidFill>
                <a:latin typeface="Pretendard Variable"/>
              </a:rPr>
              <a:t>EMILY · SELFISH CLUB · 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1524000"/>
            <a:ext cx="1333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spc="220">
                <a:solidFill>
                  <a:srgbClr val="777777"/>
                </a:solidFill>
                <a:latin typeface="Pretendard Variable"/>
              </a:rPr>
              <a:t>혼자 한 거 아니에요.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000250"/>
            <a:ext cx="15621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spc="-35">
                <a:solidFill>
                  <a:srgbClr val="0A0A0A"/>
                </a:solidFill>
                <a:latin typeface="Pretendard Variable"/>
              </a:rPr>
              <a:t>AAA 6주, 옆자리에서 이렇게 영향받았어요.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3500" y="3810000"/>
            <a:ext cx="3810000" cy="266700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4076700"/>
            <a:ext cx="3276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A0A0A"/>
                </a:solidFill>
                <a:latin typeface="Pretendard Variable"/>
              </a:rPr>
              <a:t>비비안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4610100"/>
            <a:ext cx="3276600" cy="952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0200" y="4857750"/>
            <a:ext cx="3276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333333"/>
                </a:solidFill>
                <a:latin typeface="Pretendard Variable"/>
              </a:rPr>
              <a:t>전체 대시보드 크루랑 협업하면서,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333333"/>
                </a:solidFill>
                <a:latin typeface="Pretendard Variable"/>
              </a:rPr>
              <a:t>내 CRM이 전체 어디에 들어가는지 감 잡음.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76850" y="3810000"/>
            <a:ext cx="3810000" cy="266700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43550" y="4076700"/>
            <a:ext cx="3276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A0A0A"/>
                </a:solidFill>
                <a:latin typeface="Pretendard Variable"/>
              </a:rPr>
              <a:t>다니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43550" y="4610100"/>
            <a:ext cx="3276600" cy="952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43550" y="4857750"/>
            <a:ext cx="3276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333333"/>
                </a:solidFill>
                <a:latin typeface="Pretendard Variable"/>
              </a:rPr>
              <a:t>마케팅 OS 보면서 영향받아,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333333"/>
                </a:solidFill>
                <a:latin typeface="Pretendard Variable"/>
              </a:rPr>
              <a:t>CLAUDE.md → PRD 구조 차용.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20200" y="3810000"/>
            <a:ext cx="3810000" cy="266700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86900" y="4076700"/>
            <a:ext cx="3276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A0A0A"/>
                </a:solidFill>
                <a:latin typeface="JetBrains Mono"/>
              </a:rPr>
              <a:t>code-reviewer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86900" y="4610100"/>
            <a:ext cx="3276600" cy="952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86900" y="4857750"/>
            <a:ext cx="3276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333333"/>
                </a:solidFill>
                <a:latin typeface="Pretendard Variable"/>
              </a:rPr>
              <a:t>AAA 과제로 하네스 서로 공유하다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333333"/>
                </a:solidFill>
                <a:latin typeface="Pretendard Variable"/>
              </a:rPr>
              <a:t>'검수가 필요하다' 깨닫고 만든 에이전트.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163550" y="3810000"/>
            <a:ext cx="3810000" cy="266700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430250" y="4076700"/>
            <a:ext cx="3276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A0A0A"/>
                </a:solidFill>
                <a:latin typeface="Pretendard Variable"/>
              </a:rPr>
              <a:t>흐민 · 오웬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430250" y="4610100"/>
            <a:ext cx="3276600" cy="952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430250" y="4857750"/>
            <a:ext cx="3276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333333"/>
                </a:solidFill>
                <a:latin typeface="Pretendard Variable"/>
              </a:rPr>
              <a:t>흐민의 '질문하는 AI', 오웬의 '찜마켓'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333333"/>
                </a:solidFill>
                <a:latin typeface="Pretendard Variable"/>
              </a:rPr>
              <a:t>보면서 활용 범위 확장.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33500" y="7239000"/>
            <a:ext cx="15621000" cy="1524000"/>
          </a:xfrm>
          <a:prstGeom prst="roundRect">
            <a:avLst>
              <a:gd name="adj" fmla="val 8750"/>
            </a:avLst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14500" y="7524750"/>
            <a:ext cx="14859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  <a:latin typeface="Pretendard Variable"/>
              </a:rPr>
              <a:t>그래서 </a:t>
            </a:r>
            <a:r>
              <a:rPr sz="3200" b="1" u="sng">
                <a:solidFill>
                  <a:srgbClr val="0A0A0A"/>
                </a:solidFill>
                <a:latin typeface="Pretendard Variable"/>
              </a:rPr>
              <a:t>스폰지클럽</a:t>
            </a:r>
            <a:r>
              <a:rPr sz="3200" b="1">
                <a:solidFill>
                  <a:srgbClr val="0A0A0A"/>
                </a:solidFill>
                <a:latin typeface="Pretendard Variable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14500" y="8096250"/>
            <a:ext cx="14859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3A3B00"/>
                </a:solidFill>
                <a:latin typeface="Pretendard Variable"/>
              </a:rPr>
              <a:t>빨아들이고, 내보내고, 또 누군가가 빨아들이고.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95250" cy="9525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250" y="38100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80">
                <a:solidFill>
                  <a:srgbClr val="666666"/>
                </a:solidFill>
                <a:latin typeface="Pretendard Variable"/>
              </a:rPr>
              <a:t>OUTRO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1000"/>
            <a:ext cx="762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spc="180">
                <a:solidFill>
                  <a:srgbClr val="666666"/>
                </a:solidFill>
                <a:latin typeface="Pretendard Variable"/>
              </a:rPr>
              <a:t>EMILY · SELFISH CLUB · 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715500"/>
            <a:ext cx="762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80">
                <a:solidFill>
                  <a:srgbClr val="666666"/>
                </a:solidFill>
                <a:latin typeface="Pretendard Variable"/>
              </a:rPr>
              <a:t>에밀리 · 셀피쉬클럽 CRM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9715500"/>
            <a:ext cx="762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spc="180">
                <a:solidFill>
                  <a:srgbClr val="666666"/>
                </a:solidFill>
                <a:latin typeface="Pretendard Variable"/>
              </a:rPr>
              <a:t>AAA 공유회 · 2026.04.28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1714500"/>
            <a:ext cx="15621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spc="220">
                <a:solidFill>
                  <a:srgbClr val="999999"/>
                </a:solidFill>
                <a:latin typeface="Pretendard Variable"/>
              </a:rPr>
              <a:t>여러분은 이렇게 해보세요.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2286000"/>
            <a:ext cx="1562100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0" b="1" spc="-40">
                <a:solidFill>
                  <a:srgbClr val="FFFFFF"/>
                </a:solidFill>
                <a:latin typeface="Pretendard Variable"/>
              </a:rPr>
              <a:t>내일부터 </a:t>
            </a:r>
            <a:r>
              <a:rPr sz="7800" b="1" spc="-40">
                <a:solidFill>
                  <a:srgbClr val="0A0A0A"/>
                </a:solidFill>
                <a:latin typeface="Pretendard Variable"/>
                <a:highlight>
                  <a:solidFill>
                    <a:srgbClr val="E9ED12"/>
                  </a:solidFill>
                </a:highlight>
              </a:rPr>
              <a:t>세 가지</a:t>
            </a:r>
            <a:r>
              <a:rPr sz="7800" b="1" spc="-40">
                <a:solidFill>
                  <a:srgbClr val="FFFFFF"/>
                </a:solidFill>
                <a:latin typeface="Pretendard Variable"/>
              </a:rPr>
              <a:t>만.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4191000"/>
            <a:ext cx="952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E9ED12"/>
                </a:solidFill>
                <a:latin typeface="Pretendard Variable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76500" y="4191000"/>
            <a:ext cx="14287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retendard Variable"/>
              </a:rPr>
              <a:t>한 파일로 시작하기.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76500" y="4610100"/>
            <a:ext cx="1428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BBBBB"/>
                </a:solidFill>
                <a:latin typeface="Pretendard Variable"/>
              </a:rPr>
              <a:t>CLAUDE.md에 내 규칙부터 적어보기.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3500" y="5143500"/>
            <a:ext cx="952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E9ED12"/>
                </a:solidFill>
                <a:latin typeface="Pretendard Variable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76500" y="5143500"/>
            <a:ext cx="14287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retendard Variable"/>
              </a:rPr>
              <a:t>걔한테 먼저 물어보기.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76500" y="5562600"/>
            <a:ext cx="1428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BBBBB"/>
                </a:solidFill>
                <a:latin typeface="Pretendard Variable"/>
              </a:rPr>
              <a:t>"내 맥락 잘 기억하려면 뭘 줘야 해?"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3500" y="6096000"/>
            <a:ext cx="952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E9ED12"/>
                </a:solidFill>
                <a:latin typeface="Pretendard Variable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76500" y="6096000"/>
            <a:ext cx="14287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retendard Variable"/>
              </a:rPr>
              <a:t>사람 관문 하나 남겨두기.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76500" y="6515100"/>
            <a:ext cx="1428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BBBBB"/>
                </a:solidFill>
                <a:latin typeface="Pretendard Variable"/>
              </a:rPr>
              <a:t>완전 자동 말고, 승인 한 번.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33500" y="7810500"/>
            <a:ext cx="15621000" cy="190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33500" y="8191500"/>
            <a:ext cx="15621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 spc="-40">
                <a:solidFill>
                  <a:srgbClr val="FFFFFF"/>
                </a:solidFill>
                <a:latin typeface="Pretendard Variable"/>
              </a:rPr>
              <a:t>감사합니다. </a:t>
            </a:r>
            <a:r>
              <a:rPr sz="8000" b="1" spc="-40">
                <a:solidFill>
                  <a:srgbClr val="0A0A0A"/>
                </a:solidFill>
                <a:latin typeface="Pretendard Variable"/>
                <a:highlight>
                  <a:solidFill>
                    <a:srgbClr val="E9ED12"/>
                  </a:solidFill>
                </a:highlight>
              </a:rPr>
              <a:t>Q &amp; 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