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365760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SELFISH CLUB · AAA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매일 아침,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알림톡을 들고 옵니다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"오늘 이 카피로 오후 3시에 보낼까요?"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1097280" cy="0"/>
          </a:xfrm>
          <a:prstGeom prst="line">
            <a:avLst/>
          </a:prstGeom>
          <a:noFill/>
          <a:ln w="25400">
            <a:solidFill>
              <a:srgbClr val="E9E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에밀리 · 셀피쉬클럽 CRM PM · AAA 크루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안녕하세요,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에밀리입니다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40080" y="278892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E9ED1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본업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셀피쉬클럽 CRM PM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이기적멤버십 6,800명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공유회 CRM 혼자 담당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788920"/>
            <a:ext cx="3749040" cy="1783080"/>
          </a:xfrm>
          <a:prstGeom prst="roundRect">
            <a:avLst>
              <a:gd name="adj" fmla="val 5128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AAA 크루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7760" y="32461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에밀리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3794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6주간 Claude Code로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 에이전트 만드는 크루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AAA에 왔냐면요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01168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F8F8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이때 제가 있던 자리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공유회 월 4~6번.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알림톡 9종 매번 수동 발송.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퇴근 직전까지 DB 뽑고 있었어요.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46320" y="201168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E9ED1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혼자 해보다 한계 느꼈고,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0" y="31089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크루들이랑 같이 해보려고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AAA에 왔어요.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AAA팀 — 8명의 크루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다른 일 · 같은 고민 — 내 업무에 AI 진짜로 적용하기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젬마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21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AAA 오프닝·리드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121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옵시디언 + Claude Code 아카이브 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2121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마케터 실무 자동화 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6517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035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질문하는 AI — Sullivan 프로젝트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26517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비비안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3035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셀피쉬 AX 전체 대시보드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6517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오웬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30358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찜마켓 서비스 실제 출시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5661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띵크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950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결제·예약·CRM 통합 대시보드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5661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E9ED12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에밀리 (나)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9502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 자동화 — 오늘 발표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 동안 Claude Code로 각자 자기 업무에 AI 에이전트를 만들었어요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0" cy="457200"/>
          </a:xfrm>
          <a:prstGeom prst="roundRect">
            <a:avLst>
              <a:gd name="adj" fmla="val 50000"/>
            </a:avLst>
          </a:prstGeom>
          <a:solidFill>
            <a:srgbClr val="0F0F0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 · 반복 업무에 치여 본질에 집중 못 하는 마케터 · PM · 운영 담당자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이야기 흐름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11480" cy="411480"/>
          </a:xfrm>
          <a:prstGeom prst="ellipse">
            <a:avLst/>
          </a:prstGeom>
          <a:solidFill>
            <a:srgbClr val="E9ED1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지난한 여정 — 공유회 1건의 CRM이 왜 보통일이 아니었는지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411480" cy="411480"/>
          </a:xfrm>
          <a:prstGeom prst="ellipse">
            <a:avLst/>
          </a:prstGeom>
          <a:solidFill>
            <a:srgbClr val="E9ED1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· 자동화 구조 짜기 (삽질 2가지 + 3 도구)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11480" cy="411480"/>
          </a:xfrm>
          <a:prstGeom prst="ellipse">
            <a:avLst/>
          </a:prstGeom>
          <a:solidFill>
            <a:srgbClr val="E9ED1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하네스 엔지니어링 (내 상황에서 귀납된 결과)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411480" cy="411480"/>
          </a:xfrm>
          <a:prstGeom prst="ellipse">
            <a:avLst/>
          </a:prstGeom>
          <a:solidFill>
            <a:srgbClr val="E9ED1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37033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· 배운 것 · 스폰지클럽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210312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BFDC7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가져가실 3가지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AI랑 같이 기획하는 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자동화 구조 설계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내 규칙을 AI가 읽게 만드는 법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한마디로 — "AI한테 일 잘 시키는 법"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1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· 지난한 여정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 이거 받고 오셨죠?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공유회 1건 열리면 이게 다 나가요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1783080" cy="2377440"/>
          </a:xfrm>
          <a:prstGeom prst="roundRect">
            <a:avLst>
              <a:gd name="adj" fmla="val 5128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 자리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알림톡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2011680"/>
            <a:ext cx="1783080" cy="2377440"/>
          </a:xfrm>
          <a:prstGeom prst="roundRect">
            <a:avLst>
              <a:gd name="adj" fmla="val 5128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📲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9748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 자리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카플친 배너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1783080" cy="2377440"/>
          </a:xfrm>
          <a:prstGeom prst="roundRect">
            <a:avLst>
              <a:gd name="adj" fmla="val 5128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 자리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오픈채팅 공지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2011680"/>
            <a:ext cx="1783080" cy="2377440"/>
          </a:xfrm>
          <a:prstGeom prst="roundRect">
            <a:avLst>
              <a:gd name="adj" fmla="val 5128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2860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📸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629400" y="30632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 자리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 캐러셀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1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· 지난한 여정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공유회 1건 = 10일 × 9번 알림톡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매번 대상이 달라집니다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786384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816352"/>
            <a:ext cx="219456" cy="219456"/>
          </a:xfrm>
          <a:prstGeom prst="ellipse">
            <a:avLst/>
          </a:prstGeom>
          <a:solidFill>
            <a:srgbClr val="E9ED12"/>
          </a:solidFill>
          <a:ln w="15240">
            <a:solidFill>
              <a:srgbClr val="0F0F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오픈알림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31089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BFDC7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93392" y="2816352"/>
            <a:ext cx="219456" cy="219456"/>
          </a:xfrm>
          <a:prstGeom prst="ellipse">
            <a:avLst/>
          </a:prstGeom>
          <a:solidFill>
            <a:srgbClr val="E9ED12"/>
          </a:solidFill>
          <a:ln w="15240">
            <a:solidFill>
              <a:srgbClr val="0F0F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리마인드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31089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BFDC7"/>
          </a:solidFill>
          <a:ln/>
        </p:spPr>
      </p:sp>
      <p:sp>
        <p:nvSpPr>
          <p:cNvPr id="17" name="Text 15"/>
          <p:cNvSpPr/>
          <p:nvPr/>
        </p:nvSpPr>
        <p:spPr>
          <a:xfrm>
            <a:off x="160020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미신청자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73552" y="2816352"/>
            <a:ext cx="219456" cy="219456"/>
          </a:xfrm>
          <a:prstGeom prst="ellipse">
            <a:avLst/>
          </a:prstGeom>
          <a:solidFill>
            <a:srgbClr val="E9ED12"/>
          </a:solidFill>
          <a:ln w="15240">
            <a:solidFill>
              <a:srgbClr val="0F0F0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D-1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31089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BFDC7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신청자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53712" y="2816352"/>
            <a:ext cx="219456" cy="219456"/>
          </a:xfrm>
          <a:prstGeom prst="ellipse">
            <a:avLst/>
          </a:prstGeom>
          <a:solidFill>
            <a:srgbClr val="E9ED12"/>
          </a:solidFill>
          <a:ln w="15240">
            <a:solidFill>
              <a:srgbClr val="0F0F0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D-day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3192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④⑤⑥⑦⑧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60520" y="31089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BFDC7"/>
          </a:solidFill>
          <a:ln/>
        </p:spPr>
      </p:sp>
      <p:sp>
        <p:nvSpPr>
          <p:cNvPr id="27" name="Text 25"/>
          <p:cNvSpPr/>
          <p:nvPr/>
        </p:nvSpPr>
        <p:spPr>
          <a:xfrm>
            <a:off x="416052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22592" y="2816352"/>
            <a:ext cx="219456" cy="219456"/>
          </a:xfrm>
          <a:prstGeom prst="ellipse">
            <a:avLst/>
          </a:prstGeom>
          <a:solidFill>
            <a:srgbClr val="E9ED12"/>
          </a:solidFill>
          <a:ln w="15240">
            <a:solidFill>
              <a:srgbClr val="0F0F0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103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D+3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2423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 VOD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29400" y="3108960"/>
            <a:ext cx="1005840" cy="320040"/>
          </a:xfrm>
          <a:prstGeom prst="roundRect">
            <a:avLst>
              <a:gd name="adj" fmla="val 14286"/>
            </a:avLst>
          </a:prstGeom>
          <a:solidFill>
            <a:srgbClr val="FBFDC7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31089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매 시점마다 DB 조건이 바뀝니다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이게 촘촘히 짜진 CRM이에요 — 무지성으로 많이 쏘는 게 아니라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1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· 지난한 여정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조건들을 매번 수동으로 뽑았어요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발송마다 다른 대상자 — 예전엔 사람이 손으로 골라냈습니다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6350">
            <a:solidFill>
              <a:srgbClr val="E9ED1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쿼리 결과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(캡처 자리 — 신청자 명단 테이블)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0F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② 리마인드 보낼 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WHERE ...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D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paid_at IS NULL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D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AND created_at &lt; NOW()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383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D1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AND user NOT IN (①발송자)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840480"/>
            <a:ext cx="3291840" cy="0"/>
          </a:xfrm>
          <a:prstGeom prst="line">
            <a:avLst/>
          </a:prstGeom>
          <a:noFill/>
          <a:ln w="12700">
            <a:solidFill>
              <a:srgbClr val="6B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 조건을 9번 다 손으로 뽑았어요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1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· 지난한 여정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바뀐 건,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F8F8F8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</a:t>
            </a:r>
            <a:endParaRPr lang="en-US" sz="86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 세팅 + 수동 발송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공유회 1건당 이틀 꼬박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1554480"/>
            <a:ext cx="365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E9ED1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0" y="26060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</a:t>
            </a:r>
            <a:endParaRPr lang="en-US" sz="860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슬랙에서 확인·승인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맥북 꺼도 정시에 나감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937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지금부터 이게 어떻게 가능했는지 말씀드릴게요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1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· 지난한 여정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이게 제일 신기한 부분이에요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아침, 제 슬랙엔 이게 와요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28800" y="19202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E9ED1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828800" y="2148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💬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슬랙 승인 모달 실제 캡처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3154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(카피 · 대상자 수 · 발송 시각 + ✅ 승인 / ❌ 취소 버튼)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AI가 카피 써 놓고 → ✅ 승인만 누르면 정시 발송 · 맥북 꺼도 나감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2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· 자동화 구조 짜기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😰 삽질 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 Code는 맥북이 켜져 있어야 돎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퇴근하면 맥북 닫음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Claude Code 멈춤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저녁 7시 예정 발송 못 나감 📵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E9ED1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그래서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서버에서 혼자 도는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도구가 필요했어요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n8n 등장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2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· 자동화 구조 짜기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😰 삽질 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자동 발송은 무서웠어요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크론으로 시간 맞춰 자동?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🚨 카피 오타 1번 → 6,800명 민원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🚨 줌링크 틀리면 라이브 말림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E9ED1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그래서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보내기 전엔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37760" y="3337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한 번 봐야 해요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Slack 승인 모달 등장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2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· 자동화 구조 짜기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셋을 조합했어요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하나로는 안 돼서, 각자 역할만 하게 했어요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9E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n8n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스케줄 + 서버 실행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600200" y="3566160"/>
            <a:ext cx="365760" cy="0"/>
          </a:xfrm>
          <a:prstGeom prst="line">
            <a:avLst/>
          </a:prstGeom>
          <a:noFill/>
          <a:ln w="19050">
            <a:solidFill>
              <a:srgbClr val="E9E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맥북 꺼도 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삽질 ① 해결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0116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9ED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4290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42900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대상자 DB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3566160"/>
            <a:ext cx="365760" cy="0"/>
          </a:xfrm>
          <a:prstGeom prst="line">
            <a:avLst/>
          </a:prstGeom>
          <a:noFill/>
          <a:ln w="19050">
            <a:solidFill>
              <a:srgbClr val="E9ED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신청자·미신청자 자동 조회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(데이터 역할)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201168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E9ED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194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2179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1792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 승인 관문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178040" y="3566160"/>
            <a:ext cx="365760" cy="0"/>
          </a:xfrm>
          <a:prstGeom prst="line">
            <a:avLst/>
          </a:prstGeom>
          <a:noFill/>
          <a:ln w="19050">
            <a:solidFill>
              <a:srgbClr val="E9ED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전엔 발송 안 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삽질 ② 해결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2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· 자동화 구조 짜기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돌아가는 전체 모습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25780" y="16459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578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7220" y="2194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n8n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34540" y="164592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71700" y="16459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170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263140" y="2194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80460" y="164592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17620" y="16459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762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909060" y="2194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카피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26380" y="164592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63540" y="16459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354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54980" y="2194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Slack 승인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72300" y="1645920"/>
            <a:ext cx="137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09460" y="16459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09460" y="17373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00900" y="21945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SOLAPI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88036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9ED12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5720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🗄️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5720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테이블 캡처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(발송 대상자 DB)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88036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9ED1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75488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75488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n8n 워크플로우 캡처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(전체 자동화 플로우)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자고 있어도 돌고, 보내기 전엔 사람이 한 번 확인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3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하네스 엔지니어링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근데 또 다른 문제가 생겼어요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규칙이 너무 많더라고요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🎨 카피 톤·금지어·길이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71800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🔗 UTM 파라미터 21개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📱 템플릿 9종 구조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2761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⏰ 각 템플릿 발송 시간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45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👥 대상자 조건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71800" y="31455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💰 가격 표기 규칙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5295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🎁 혜택 카피 포맷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35295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📋 공유회별 맞춤 변수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194560"/>
            <a:ext cx="3017520" cy="2468880"/>
          </a:xfrm>
          <a:prstGeom prst="roundRect">
            <a:avLst>
              <a:gd name="adj" fmla="val 2963"/>
            </a:avLst>
          </a:prstGeom>
          <a:solidFill>
            <a:srgbClr val="F8FAFC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331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2788920"/>
            <a:ext cx="237744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5852160" y="2935224"/>
            <a:ext cx="210312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5852160" y="3081528"/>
            <a:ext cx="182880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5852160" y="3227832"/>
            <a:ext cx="237744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5852160" y="3374136"/>
            <a:ext cx="210312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20"/>
          <p:cNvSpPr/>
          <p:nvPr/>
        </p:nvSpPr>
        <p:spPr>
          <a:xfrm>
            <a:off x="5852160" y="3520440"/>
            <a:ext cx="182880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2160" y="3666744"/>
            <a:ext cx="237744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4" name="Shape 22"/>
          <p:cNvSpPr/>
          <p:nvPr/>
        </p:nvSpPr>
        <p:spPr>
          <a:xfrm>
            <a:off x="5852160" y="3813048"/>
            <a:ext cx="210312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4114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353줄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이걸 한 파일에 다 박았어요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3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하네스 엔지니어링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아니나 다를까,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기억도 안 되고, 규칙도 안 읽혀요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😩 규칙이 안 읽혀요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"어제 말한 가격 표기 규칙,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또 틀려?"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AI가 또 까먹음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💻 맥북 2개 기억 사고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내일 당장 이거 해야 해서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91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맥북 켰더니...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886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일주일 전 기억이 마지막 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3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하네스 엔지니어링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그러다 '하네스'라는 걸 들었어요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AAA팀 안에서 언뜻 듣고 → 클로드한테 질문해봤어요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0" y="2103120"/>
            <a:ext cx="6949440" cy="2377440"/>
          </a:xfrm>
          <a:prstGeom prst="roundRect">
            <a:avLst>
              <a:gd name="adj" fmla="val 5769"/>
            </a:avLst>
          </a:prstGeom>
          <a:solidFill>
            <a:srgbClr val="FBFDC7"/>
          </a:solidFill>
          <a:ln w="19050">
            <a:solidFill>
              <a:srgbClr val="E9E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2402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 → Claude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"너한테 기억 잘 주려면 뭘 가지고 있어야 해?"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"네가 생각하는 하네스는 뭐야?"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3749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"내가 이 프로젝트에서 가져가야 할 하네스는 뭐야?"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클로드가 3가지를 줬어요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3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하네스 엔지니어링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적용해보니 실제로 잘 굴러가더라고요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너무 커서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쪼갰어요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00200" y="3749040"/>
            <a:ext cx="365760" cy="0"/>
          </a:xfrm>
          <a:prstGeom prst="line">
            <a:avLst/>
          </a:prstGeom>
          <a:noFill/>
          <a:ln w="19050">
            <a:solidFill>
              <a:srgbClr val="E9E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· PRD · 스킬로 나눔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기억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맥북 바꿔도 이어지게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하려고요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3749040"/>
            <a:ext cx="365760" cy="0"/>
          </a:xfrm>
          <a:prstGeom prst="line">
            <a:avLst/>
          </a:prstGeom>
          <a:noFill/>
          <a:ln w="19050">
            <a:solidFill>
              <a:srgbClr val="E9ED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 · 프로젝트 상태 파일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7830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17920" y="2514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30175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자꾸 틀리니까 검수를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붙였어요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3749040"/>
            <a:ext cx="365760" cy="0"/>
          </a:xfrm>
          <a:prstGeom prst="line">
            <a:avLst/>
          </a:prstGeom>
          <a:noFill/>
          <a:ln w="19050">
            <a:solidFill>
              <a:srgbClr val="E9ED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 레이어 + 피드백 루프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이게 있으니까 잘 돌아가더라 — 알고 보니 이게 '하네스'였더라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3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하네스 엔지니어링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예를 들어 이런 거예요 — 알림톡 PRD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제가 매번 말하던 규칙을, 이제 얘가 읽고 씁니다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F8FAFC"/>
          </a:solidFill>
          <a:ln w="6350">
            <a:solidFill>
              <a:srgbClr val="E9ED1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0F0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📄 prd/01-알림톡.md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(실제 파일 스크린샷 자리)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017520"/>
            <a:ext cx="338328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154680"/>
            <a:ext cx="301752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3291840"/>
            <a:ext cx="265176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429000"/>
            <a:ext cx="228600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566160"/>
            <a:ext cx="338328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703320"/>
            <a:ext cx="301752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840480"/>
            <a:ext cx="265176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977640"/>
            <a:ext cx="228600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114800"/>
            <a:ext cx="338328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251960"/>
            <a:ext cx="301752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011680"/>
            <a:ext cx="4023360" cy="2651760"/>
          </a:xfrm>
          <a:prstGeom prst="roundRect">
            <a:avLst>
              <a:gd name="adj" fmla="val 2759"/>
            </a:avLst>
          </a:prstGeom>
          <a:solidFill>
            <a:srgbClr val="E9ED1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안에 들어있는 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651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템플릿 9종 구조 + SOLAPI ID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3246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발송 시점·시간·대상자 조건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변수 매핑 + 금지어 · 길이 규칙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3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하네스 엔지니어링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역할을 나눈 에이전트들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= 하나의 역할만 맡는 작은 AI 일꾼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director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50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지휘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32888" y="20116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timeline-planner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70048" y="2450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타임라인 설계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08576" y="20116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45736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data-collector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45736" y="2450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조회 / URL 크롤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84264" y="201168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1424" y="2121408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copywriter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1424" y="24505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카피 쓰는 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9008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0998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media-ops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배너 · UTM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32888" y="299008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0048" y="30998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dispatcher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70048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슬랙 전달 · 발송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08576" y="299008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5736" y="30998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verifier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45736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검수하는 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84264" y="2990088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309981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F0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code-reviewer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21424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리뷰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director가 지휘 → 나머지가 각자 담당 → verifier가 마지막에 검수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3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하네스 엔지니어링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수동으로 하던 촘촘한 조건들,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이제 얘가 알아서 DB까지 발라냅니다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BFDC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알림톡 ① 발송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오픈알림 전체 멤버에게 나감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148840"/>
            <a:ext cx="137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46120" y="21488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E9ED12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data-collector 작동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이후 신청자 자동 조회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2148840"/>
            <a:ext cx="137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35040" y="21488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BFDC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✉️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dispatcher 발송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사람들 제외하고 ② 리마인드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예전엔 제가 SQL 짜서 엑셀로 뽑던 일이에요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4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IMPACT · 팀 · 배운 것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바뀐 것들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0F0F0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→ 5분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발송 세팅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이틀 → 1시간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공유회 1건 전체 세팅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오타·링크 리스크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검수단계로 차단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73736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BFDC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정성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286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"퇴근 직전 카피 쓰다 질려있었는데,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이젠 퇴근해요"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63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"맥북 닫아도 정시에 나가요"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"본질(개인화·품질)에 시간 쓸 수 있어요"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4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IMPACT · 팀 · 배운 것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이거, 혼자였으면 못 만들었어요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팀이었어서 뾰족하게 유익했던 지점들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73152" cy="1143000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비비안 ↔ 에밀리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비비안이 전체 대시보드를 만들고 있어서, 내 CRM이 어디 들어가는지 감 잡힘. 같이 논의하면서 구조가 나아짐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26280" y="201168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2011680"/>
            <a:ext cx="73152" cy="1143000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다니 → 에밀리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423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OS(CLAUDE.md를 규칙 책으로) 개념 차용 — 내 알림톡 PRD에 그대로 적용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91840"/>
            <a:ext cx="73152" cy="1143000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루프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code-reviewer 에이전트는 AAA 과제에서 하네스 공유하다가 '검수 필요하네' 깨닫고 만듦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3291840"/>
            <a:ext cx="3931920" cy="1143000"/>
          </a:xfrm>
          <a:prstGeom prst="roundRect">
            <a:avLst>
              <a:gd name="adj" fmla="val 6400"/>
            </a:avLst>
          </a:prstGeom>
          <a:solidFill>
            <a:srgbClr val="FBFDC7"/>
          </a:solidFill>
          <a:ln w="12700">
            <a:solidFill>
              <a:srgbClr val="E9ED1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3291840"/>
            <a:ext cx="73152" cy="1143000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 크루 프로덕트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703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흐민의 질문하는 AI, 오웬의 찜마켓 보면서 내 활용 범위가 넓어짐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" cy="201168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4 /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2608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IMPACT · 팀 · 배운 것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스폰지클럽,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같이 이기적공유하며 성장합니다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1097280" cy="0"/>
          </a:xfrm>
          <a:prstGeom prst="line">
            <a:avLst/>
          </a:prstGeom>
          <a:noFill/>
          <a:ln w="25400">
            <a:solidFill>
              <a:srgbClr val="E9E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스폰지처럼 빨아들이고 → 내 것으로 내보내고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그걸 또 누군가가 빨아들이고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그게 셀피쉬클럽이 되게 하려는 바예요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여러분은 이렇게 해보세요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E9ED1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6184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반복 업무 쪼개서 AI한테 상황 설명부터 해보세요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02920" cy="502920"/>
          </a:xfrm>
          <a:prstGeom prst="ellipse">
            <a:avLst/>
          </a:prstGeom>
          <a:solidFill>
            <a:srgbClr val="E9ED1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3957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자동 대신 승인 단계 하나 두세요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E9ED1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31729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0F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규칙을 한 파일에 모으고, 커지면 쪼개세요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0" y="4206240"/>
            <a:ext cx="9144000" cy="91440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4206240"/>
            <a:ext cx="9144000" cy="73152"/>
          </a:xfrm>
          <a:prstGeom prst="rect">
            <a:avLst/>
          </a:prstGeom>
          <a:solidFill>
            <a:srgbClr val="E9ED12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429768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ED1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 · Q&amp;A 환영해요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매일 아침, AI가 알림톡을 들고 옵니다</dc:title>
  <dc:subject>PptxGenJS Presentation</dc:subject>
  <dc:creator>에밀리 · 셀피쉬클럽</dc:creator>
  <cp:lastModifiedBy>에밀리 · 셀피쉬클럽</cp:lastModifiedBy>
  <cp:revision>1</cp:revision>
  <dcterms:created xsi:type="dcterms:W3CDTF">2026-04-20T12:10:16Z</dcterms:created>
  <dcterms:modified xsi:type="dcterms:W3CDTF">2026-04-20T12:10:16Z</dcterms:modified>
</cp:coreProperties>
</file>