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0" y="4572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01 /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68680"/>
            <a:ext cx="16916400" cy="0"/>
          </a:xfrm>
          <a:prstGeom prst="line">
            <a:avLst/>
          </a:prstGeom>
          <a:ln w="762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38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Emily · Selfish Club · 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0" y="9738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— 01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8A8A84"/>
                </a:solidFill>
                <a:latin typeface="Courier New"/>
              </a:rPr>
              <a:t>06:00 AM · SEOUL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1691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0" b="1" i="0">
                <a:solidFill>
                  <a:srgbClr val="0A0A0A"/>
                </a:solidFill>
                <a:latin typeface="Arial"/>
              </a:rPr>
              <a:t>매일 아침,</a:t>
            </a:r>
          </a:p>
          <a:p>
            <a:pPr algn="l">
              <a:lnSpc>
                <a:spcPct val="102000"/>
              </a:lnSpc>
            </a:pPr>
            <a:r>
              <a:rPr sz="11000" b="1" i="0">
                <a:solidFill>
                  <a:srgbClr val="0A0A0A"/>
                </a:solidFill>
                <a:latin typeface="Arial"/>
              </a:rPr>
              <a:t>AI가 알림톡을</a:t>
            </a:r>
          </a:p>
          <a:p>
            <a:pPr algn="l">
              <a:lnSpc>
                <a:spcPct val="102000"/>
              </a:lnSpc>
            </a:pPr>
            <a:r>
              <a:rPr sz="11000" b="1" i="0">
                <a:solidFill>
                  <a:srgbClr val="0A0A0A"/>
                </a:solidFill>
                <a:latin typeface="Arial"/>
              </a:rPr>
              <a:t>들고 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7498079"/>
            <a:ext cx="4389120" cy="201168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781812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0A0A0A"/>
                </a:solidFill>
                <a:latin typeface="Courier New"/>
              </a:rPr>
              <a:t>에밀리 · 셀피쉬클럽 AX CRM 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321040"/>
            <a:ext cx="1645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8A8A84"/>
                </a:solidFill>
                <a:latin typeface="Courier New"/>
              </a:rPr>
              <a:t>AAA팀 공유회 · 2026.04.28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INTRO · 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0" y="4572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02 /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68680"/>
            <a:ext cx="16916400" cy="0"/>
          </a:xfrm>
          <a:prstGeom prst="line">
            <a:avLst/>
          </a:prstGeom>
          <a:ln w="762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38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Emily · Selfish Club · 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0" y="9738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— 02 —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6858000" cy="7772400"/>
          </a:xfrm>
          <a:prstGeom prst="rect">
            <a:avLst/>
          </a:prstGeom>
          <a:noFill/>
          <a:ln w="1524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846320"/>
            <a:ext cx="6858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0" i="0">
                <a:solidFill>
                  <a:srgbClr val="8A8A84"/>
                </a:solidFill>
                <a:latin typeface="Courier New"/>
              </a:rPr>
              <a:t>[ PHOTO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463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Arial"/>
              </a:rPr>
              <a:t>안녕하세요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965960"/>
            <a:ext cx="9144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0" b="1" i="0">
                <a:solidFill>
                  <a:srgbClr val="0A0A0A"/>
                </a:solidFill>
                <a:latin typeface="Arial"/>
              </a:rPr>
              <a:t>에밀리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5720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0A0A0A"/>
                </a:solidFill>
                <a:latin typeface="Arial"/>
              </a:rPr>
              <a:t>셀피쉬클럽 AX CRM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2120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8A8A84"/>
                </a:solidFill>
                <a:latin typeface="Arial"/>
              </a:rPr>
              <a:t>인하우스 풀스택 마케터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6400800"/>
            <a:ext cx="1828800" cy="5943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640080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AFAF7"/>
                </a:solidFill>
                <a:latin typeface="Courier New"/>
              </a:rPr>
              <a:t>#퍼포먼스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0" y="6400800"/>
            <a:ext cx="1828800" cy="5943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0" y="640080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AFAF7"/>
                </a:solidFill>
                <a:latin typeface="Courier New"/>
              </a:rPr>
              <a:t>#그로스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70080" y="6400800"/>
            <a:ext cx="1828800" cy="5943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0" y="640080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AFAF7"/>
                </a:solidFill>
                <a:latin typeface="Courier New"/>
              </a:rPr>
              <a:t>#ops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990319" y="6400800"/>
            <a:ext cx="1828800" cy="5943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90319" y="640080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AFAF7"/>
                </a:solidFill>
                <a:latin typeface="Courier New"/>
              </a:rPr>
              <a:t>#효율충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910559" y="6400800"/>
            <a:ext cx="1828800" cy="5943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910559" y="640080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AFAF7"/>
                </a:solidFill>
                <a:latin typeface="Courier New"/>
              </a:rPr>
              <a:t>#데이터자동화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INTRO · AAA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0" y="4572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03 /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68680"/>
            <a:ext cx="16916400" cy="0"/>
          </a:xfrm>
          <a:prstGeom prst="line">
            <a:avLst/>
          </a:prstGeom>
          <a:ln w="762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38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Emily · Selfish Club · 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0" y="9738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— 03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8A8A84"/>
                </a:solidFill>
                <a:latin typeface="Arial"/>
              </a:rPr>
              <a:t>지난 6주,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6916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200" b="1" i="0">
                <a:solidFill>
                  <a:srgbClr val="0A0A0A"/>
                </a:solidFill>
                <a:latin typeface="Arial"/>
              </a:rPr>
              <a:t>AAA팀에 있었어요.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846320"/>
            <a:ext cx="56235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21208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8A8A84"/>
                </a:solidFill>
                <a:latin typeface="Courier New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5806440"/>
            <a:ext cx="640080" cy="9144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6126480"/>
            <a:ext cx="47091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0A0A0A"/>
                </a:solidFill>
                <a:latin typeface="Arial"/>
              </a:rPr>
              <a:t>반복에 쓰는 시간을</a:t>
            </a:r>
          </a:p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0A0A0A"/>
                </a:solidFill>
                <a:latin typeface="Arial"/>
              </a:rPr>
              <a:t>기획에 쓰고 싶어서.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4846320"/>
            <a:ext cx="56235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521208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8A8A84"/>
                </a:solidFill>
                <a:latin typeface="Courier New"/>
              </a:rPr>
              <a:t>WHAT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5806440"/>
            <a:ext cx="640080" cy="9144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6126480"/>
            <a:ext cx="47091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0A0A0A"/>
                </a:solidFill>
                <a:latin typeface="Arial"/>
              </a:rPr>
              <a:t>Claude Code로 CRM</a:t>
            </a:r>
          </a:p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0A0A0A"/>
                </a:solidFill>
                <a:latin typeface="Arial"/>
              </a:rPr>
              <a:t>자동화를 직접 만들었어요.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207240" y="4846320"/>
            <a:ext cx="56235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664440" y="521208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8A8A84"/>
                </a:solidFill>
                <a:latin typeface="Courier New"/>
              </a:rPr>
              <a:t>NOW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64440" y="5806440"/>
            <a:ext cx="640080" cy="9144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664440" y="6126480"/>
            <a:ext cx="47091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0A0A0A"/>
                </a:solidFill>
                <a:latin typeface="Arial"/>
              </a:rPr>
              <a:t>아침 10시,</a:t>
            </a:r>
          </a:p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0A0A0A"/>
                </a:solidFill>
                <a:latin typeface="Arial"/>
              </a:rPr>
              <a:t>슬랙 버튼 하나로 끝나요.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0" y="4572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04 /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68680"/>
            <a:ext cx="16916400" cy="0"/>
          </a:xfrm>
          <a:prstGeom prst="line">
            <a:avLst/>
          </a:prstGeom>
          <a:ln w="762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38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Emily · Selfish Club · 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0" y="9738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— 04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Courier New"/>
              </a:rPr>
              <a:t>오늘 25분,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645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000" b="1" i="0">
                <a:solidFill>
                  <a:srgbClr val="0A0A0A"/>
                </a:solidFill>
                <a:latin typeface="Arial"/>
              </a:rPr>
              <a:t>이렇게 가요.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200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0A0A0A"/>
                </a:solidFill>
                <a:latin typeface="Courier New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61772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0A0A0A"/>
                </a:solidFill>
                <a:latin typeface="Arial"/>
              </a:rPr>
              <a:t>지난 여정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473659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Arial"/>
              </a:rPr>
              <a:t>여러분이 받은 메시지는 이렇게 나가요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5623560"/>
            <a:ext cx="16916400" cy="0"/>
          </a:xfrm>
          <a:prstGeom prst="line">
            <a:avLst/>
          </a:prstGeom>
          <a:ln w="508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571500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0A0A0A"/>
                </a:solidFill>
                <a:latin typeface="Courier New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576072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0A0A0A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587959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Arial"/>
              </a:rPr>
              <a:t>자동화 구조 설계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6766560"/>
            <a:ext cx="16916400" cy="0"/>
          </a:xfrm>
          <a:prstGeom prst="line">
            <a:avLst/>
          </a:prstGeom>
          <a:ln w="508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685800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0A0A0A"/>
                </a:solidFill>
                <a:latin typeface="Courier New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690372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0A0A0A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702259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Arial"/>
              </a:rPr>
              <a:t>Harness Engine — AI에게 내 맥락 심기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7909560"/>
            <a:ext cx="16916400" cy="0"/>
          </a:xfrm>
          <a:prstGeom prst="line">
            <a:avLst/>
          </a:prstGeom>
          <a:ln w="508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800100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0A0A0A"/>
                </a:solidFill>
                <a:latin typeface="Courier New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804672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0A0A0A"/>
                </a:solidFill>
                <a:latin typeface="Arial"/>
              </a:rPr>
              <a:t>마무리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816559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Arial"/>
              </a:rPr>
              <a:t>팀에서 배운 것들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9052560"/>
            <a:ext cx="16916400" cy="0"/>
          </a:xfrm>
          <a:prstGeom prst="line">
            <a:avLst/>
          </a:prstGeom>
          <a:ln w="508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0" y="4572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05 /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68680"/>
            <a:ext cx="16916400" cy="0"/>
          </a:xfrm>
          <a:prstGeom prst="line">
            <a:avLst/>
          </a:prstGeom>
          <a:ln w="762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38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Emily · Selfish Club · 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0" y="9738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— 05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Courier New"/>
              </a:rPr>
              <a:t>한 줄로 요약하면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1691640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0" b="1" i="0">
                <a:solidFill>
                  <a:srgbClr val="0A0A0A"/>
                </a:solidFill>
                <a:latin typeface="Arial"/>
              </a:rPr>
              <a:t>AI한테</a:t>
            </a:r>
          </a:p>
          <a:p>
            <a:pPr algn="l">
              <a:lnSpc>
                <a:spcPct val="102000"/>
              </a:lnSpc>
            </a:pPr>
            <a:r>
              <a:rPr sz="13500" b="1" i="0">
                <a:solidFill>
                  <a:srgbClr val="0A0A0A"/>
                </a:solidFill>
                <a:latin typeface="Arial"/>
              </a:rPr>
              <a:t>일 잘 시키는 법.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7772400"/>
            <a:ext cx="5943600" cy="22860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813816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8A8A84"/>
                </a:solidFill>
                <a:latin typeface="Arial"/>
              </a:rPr>
              <a:t>오늘 드릴 내용, 결국 이 한 줄이에요.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§ 1 · 지난 여정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0" y="4572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06 /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68680"/>
            <a:ext cx="16916400" cy="0"/>
          </a:xfrm>
          <a:prstGeom prst="line">
            <a:avLst/>
          </a:prstGeom>
          <a:ln w="762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38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Emily · Selfish Club · 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0" y="9738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— 06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Courier New"/>
              </a:rPr>
              <a:t>먼저, 질문 하나.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16916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400" b="1" i="0">
                <a:solidFill>
                  <a:srgbClr val="0A0A0A"/>
                </a:solidFill>
                <a:latin typeface="Arial"/>
              </a:rPr>
              <a:t>여러분, 이거 받고 오셨죠?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943600"/>
            <a:ext cx="56235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7223760"/>
            <a:ext cx="5623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0" i="0">
                <a:solidFill>
                  <a:srgbClr val="8A8A84"/>
                </a:solidFill>
                <a:latin typeface="Courier New"/>
              </a:rPr>
              <a:t>[ 알림톡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5943600"/>
            <a:ext cx="56235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7223760"/>
            <a:ext cx="5623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0" i="0">
                <a:solidFill>
                  <a:srgbClr val="8A8A84"/>
                </a:solidFill>
                <a:latin typeface="Courier New"/>
              </a:rPr>
              <a:t>[ 인스타 배너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298680" y="5943600"/>
            <a:ext cx="56235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98680" y="7223760"/>
            <a:ext cx="5623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0" i="0">
                <a:solidFill>
                  <a:srgbClr val="8A8A84"/>
                </a:solidFill>
                <a:latin typeface="Courier New"/>
              </a:rPr>
              <a:t>[ 오카방 공지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9281160"/>
            <a:ext cx="1645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8A8A84"/>
                </a:solidFill>
                <a:latin typeface="Courier New"/>
              </a:rPr>
              <a:t>이 메시지를 보내는 사람이 저예요.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§ 1 · 지난 여정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0" y="4572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07 /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68680"/>
            <a:ext cx="16916400" cy="0"/>
          </a:xfrm>
          <a:prstGeom prst="line">
            <a:avLst/>
          </a:prstGeom>
          <a:ln w="762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38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Emily · Selfish Club · 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0" y="9738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— 07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Courier New"/>
              </a:rPr>
              <a:t>공유회 1건이 열리면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645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200" b="1" i="0">
                <a:solidFill>
                  <a:srgbClr val="0A0A0A"/>
                </a:solidFill>
                <a:latin typeface="Arial"/>
              </a:rPr>
              <a:t>채널 네 개가 동시에 나가요.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572000"/>
            <a:ext cx="4187952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463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0A0A0A"/>
                </a:solidFill>
                <a:latin typeface="Courier New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5486400"/>
            <a:ext cx="640080" cy="9144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715000"/>
            <a:ext cx="34564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0A0A0A"/>
                </a:solidFill>
                <a:latin typeface="Arial"/>
              </a:rPr>
              <a:t>알림톡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7132320"/>
            <a:ext cx="3456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8A8A84"/>
                </a:solidFill>
                <a:latin typeface="Arial"/>
              </a:rPr>
              <a:t>카카오 · 템플릿 9종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56632" y="4572000"/>
            <a:ext cx="4187952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22392" y="48463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0A0A0A"/>
                </a:solidFill>
                <a:latin typeface="Courier New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22392" y="5486400"/>
            <a:ext cx="640080" cy="9144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22392" y="5715000"/>
            <a:ext cx="34564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0A0A0A"/>
                </a:solidFill>
                <a:latin typeface="Arial"/>
              </a:rPr>
              <a:t>카플친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7132320"/>
            <a:ext cx="3456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8A8A84"/>
                </a:solidFill>
                <a:latin typeface="Arial"/>
              </a:rPr>
              <a:t>플러스친구 소식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27464" y="4572000"/>
            <a:ext cx="4187952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93224" y="48463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0A0A0A"/>
                </a:solidFill>
                <a:latin typeface="Courier New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93224" y="5486400"/>
            <a:ext cx="640080" cy="9144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93224" y="5715000"/>
            <a:ext cx="34564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0A0A0A"/>
                </a:solidFill>
                <a:latin typeface="Arial"/>
              </a:rPr>
              <a:t>채널톡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3224" y="7132320"/>
            <a:ext cx="3456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8A8A84"/>
                </a:solidFill>
                <a:latin typeface="Arial"/>
              </a:rPr>
              <a:t>앱 내 팝업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98296" y="4572000"/>
            <a:ext cx="4187952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64056" y="48463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0A0A0A"/>
                </a:solidFill>
                <a:latin typeface="Courier New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164056" y="5486400"/>
            <a:ext cx="640080" cy="9144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64056" y="5715000"/>
            <a:ext cx="34564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0A0A0A"/>
                </a:solidFill>
                <a:latin typeface="Arial"/>
              </a:rPr>
              <a:t>오카방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64056" y="7132320"/>
            <a:ext cx="3456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8A8A84"/>
                </a:solidFill>
                <a:latin typeface="Arial"/>
              </a:rPr>
              <a:t>오픈채팅 공지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§ 1 · 지난 여정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0" y="4572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08 /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68680"/>
            <a:ext cx="16916400" cy="0"/>
          </a:xfrm>
          <a:prstGeom prst="line">
            <a:avLst/>
          </a:prstGeom>
          <a:ln w="762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38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Emily · Selfish Club · 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0" y="9738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— 08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Courier New"/>
              </a:rPr>
              <a:t>근데 이거,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645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0A0A0A"/>
                </a:solidFill>
                <a:latin typeface="Arial"/>
              </a:rPr>
              <a:t>생각보다 손이 많이 가요.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20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Arial"/>
              </a:rPr>
              <a:t>그동안 저는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212080"/>
            <a:ext cx="100584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 i="0">
                <a:solidFill>
                  <a:srgbClr val="0A0A0A"/>
                </a:solidFill>
                <a:latin typeface="Arial"/>
              </a:rPr>
              <a:t>매번 손으로</a:t>
            </a:r>
          </a:p>
          <a:p>
            <a:pPr algn="l">
              <a:lnSpc>
                <a:spcPct val="105000"/>
              </a:lnSpc>
            </a:pPr>
            <a:r>
              <a:rPr sz="6600" b="1" i="0">
                <a:solidFill>
                  <a:srgbClr val="0A0A0A"/>
                </a:solidFill>
                <a:latin typeface="Arial"/>
              </a:rPr>
              <a:t>DB를 뽑았어요.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503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8A8A84"/>
                </a:solidFill>
                <a:latin typeface="Arial"/>
              </a:rPr>
              <a:t>이전 알림톡 신청자 추출 → 미신청자 분리 → 다음 타겟 세팅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89611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8A8A84"/>
                </a:solidFill>
                <a:latin typeface="Arial"/>
              </a:rPr>
              <a:t>조건 하나 바뀌면, 또 또 또.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0" y="4572000"/>
            <a:ext cx="6629400" cy="47548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0" y="48006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8A84"/>
                </a:solidFill>
                <a:latin typeface="Courier New"/>
              </a:rPr>
              <a:t>[ SUPABASE · MANUAL QUERY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5212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546811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-- 공유회 오픈 알림 대상자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572414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SELECT u_phone, u_name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59801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FROM membership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2362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WHERE marketing_agree = true;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7482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-- 리마인드 (미신청자만)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700430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SELECT u_phone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726033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FROM membership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751636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WHERE NOT EXISTS (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77724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SELECT 1 FROM event 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802843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WHERE e.u_phone = m.u_phone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82844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§ 1 · 지난 여정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0" y="4572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09 /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68680"/>
            <a:ext cx="16916400" cy="0"/>
          </a:xfrm>
          <a:prstGeom prst="line">
            <a:avLst/>
          </a:prstGeom>
          <a:ln w="762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38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Emily · Selfish Club · 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0" y="9738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— 09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Courier New"/>
              </a:rPr>
              <a:t>그래서 AAA 6주간,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69164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0" b="1" i="0">
                <a:solidFill>
                  <a:srgbClr val="0A0A0A"/>
                </a:solidFill>
                <a:latin typeface="Arial"/>
              </a:rPr>
              <a:t>Claude Code로</a:t>
            </a:r>
          </a:p>
          <a:p>
            <a:pPr algn="l">
              <a:lnSpc>
                <a:spcPct val="105000"/>
              </a:lnSpc>
            </a:pPr>
            <a:r>
              <a:rPr sz="7800" b="1" i="0">
                <a:solidFill>
                  <a:srgbClr val="0A0A0A"/>
                </a:solidFill>
                <a:latin typeface="Arial"/>
              </a:rPr>
              <a:t>자동화를 시작했어요.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0080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8A8A84"/>
                </a:solidFill>
                <a:latin typeface="Arial"/>
              </a:rPr>
              <a:t>지금 결과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949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8A8A84"/>
                </a:solidFill>
                <a:latin typeface="Courier New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740664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0" b="1" i="0">
                <a:solidFill>
                  <a:srgbClr val="0A0A0A"/>
                </a:solidFill>
                <a:latin typeface="Courier New"/>
              </a:rPr>
              <a:t>3h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786384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0" b="0" i="0">
                <a:solidFill>
                  <a:srgbClr val="8A8A84"/>
                </a:solidFill>
                <a:latin typeface="Arial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949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0A0A0A"/>
                </a:solidFill>
                <a:latin typeface="Courier New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7406640"/>
            <a:ext cx="6400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0" b="1" i="0">
                <a:solidFill>
                  <a:srgbClr val="0A0A0A"/>
                </a:solidFill>
                <a:latin typeface="Courier New"/>
              </a:rPr>
              <a:t>5min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9418320"/>
            <a:ext cx="2743200" cy="18288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§ 1 · 지난 여정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0" y="4572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10 /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68680"/>
            <a:ext cx="16916400" cy="0"/>
          </a:xfrm>
          <a:prstGeom prst="line">
            <a:avLst/>
          </a:prstGeom>
          <a:ln w="762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38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Emily · Selfish Club · 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0" y="9738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— 10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Courier New"/>
              </a:rPr>
              <a:t>지금 제 하루는 이렇게 시작해요.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645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0A0A0A"/>
                </a:solidFill>
                <a:latin typeface="Arial"/>
              </a:rPr>
              <a:t>슬랙 하나로.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023360"/>
            <a:ext cx="1097280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00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0" i="0">
                <a:solidFill>
                  <a:srgbClr val="8A8A84"/>
                </a:solidFill>
                <a:latin typeface="Courier New"/>
              </a:rPr>
              <a:t>[ SLACK 승인 화면 · 실제 캡처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0" y="4206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0A0A0A"/>
                </a:solidFill>
                <a:latin typeface="Arial"/>
              </a:rPr>
              <a:t>① 오전 10시 도착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0" y="47548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8A8A84"/>
                </a:solidFill>
                <a:latin typeface="Arial"/>
              </a:rPr>
              <a:t>오늘 나갈 메시지 통합 리스트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344400" y="5486400"/>
            <a:ext cx="5257800" cy="0"/>
          </a:xfrm>
          <a:prstGeom prst="line">
            <a:avLst/>
          </a:prstGeom>
          <a:ln w="635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344400" y="56692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0A0A0A"/>
                </a:solidFill>
                <a:latin typeface="Arial"/>
              </a:rPr>
              <a:t>② 수정 · 승인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0" y="6217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8A8A84"/>
                </a:solidFill>
                <a:latin typeface="Arial"/>
              </a:rPr>
              <a:t>시간/링크/카피 모달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344400" y="6949440"/>
            <a:ext cx="5257800" cy="0"/>
          </a:xfrm>
          <a:prstGeom prst="line">
            <a:avLst/>
          </a:prstGeom>
          <a:ln w="635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344400" y="7132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0A0A0A"/>
                </a:solidFill>
                <a:latin typeface="Arial"/>
              </a:rPr>
              <a:t>③ 예약 시간에 발송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0" y="76809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8A8A84"/>
                </a:solidFill>
                <a:latin typeface="Arial"/>
              </a:rPr>
              <a:t>Solapi로 자동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9418320"/>
            <a:ext cx="1645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8A8A84"/>
                </a:solidFill>
                <a:latin typeface="Courier New"/>
              </a:rPr>
              <a:t>↓ 어떻게 이렇게 오게 됐는지, 뒤에서 설명드릴게요.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§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0" y="4572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11 /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68680"/>
            <a:ext cx="16916400" cy="0"/>
          </a:xfrm>
          <a:prstGeom prst="line">
            <a:avLst/>
          </a:prstGeom>
          <a:ln w="762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38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Emily · Selfish Club · 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0" y="9738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— 11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Courier New"/>
              </a:rPr>
              <a:t>여기서부터 본편.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474720"/>
            <a:ext cx="1371600" cy="27432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840480"/>
            <a:ext cx="1645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0" b="1" i="0">
                <a:solidFill>
                  <a:srgbClr val="8A8A84"/>
                </a:solidFill>
                <a:latin typeface="Arial"/>
              </a:rPr>
              <a:t>Step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03520"/>
            <a:ext cx="16916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0" b="1" i="0">
                <a:solidFill>
                  <a:srgbClr val="0A0A0A"/>
                </a:solidFill>
                <a:latin typeface="Arial"/>
              </a:rPr>
              <a:t>자동화 구조 설계.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50392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8A8A84"/>
                </a:solidFill>
                <a:latin typeface="Arial"/>
              </a:rPr>
              <a:t>노트북을 덮어도, 퇴근한 뒤에도, 메시지가 나가게.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§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0" y="4572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12 /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68680"/>
            <a:ext cx="16916400" cy="0"/>
          </a:xfrm>
          <a:prstGeom prst="line">
            <a:avLst/>
          </a:prstGeom>
          <a:ln w="762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38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Emily · Selfish Club · 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0" y="9738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— 12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Courier New"/>
              </a:rPr>
              <a:t>먼저, 알림톡부터.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6916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000" b="1" i="0">
                <a:solidFill>
                  <a:srgbClr val="0A0A0A"/>
                </a:solidFill>
                <a:latin typeface="Arial"/>
              </a:rPr>
              <a:t>핵심 채널이거든요.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846320"/>
            <a:ext cx="56235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21208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8A8A84"/>
                </a:solidFill>
                <a:latin typeface="Courier New"/>
              </a:rPr>
              <a:t>승인 템플릿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5760720"/>
            <a:ext cx="640080" cy="9144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6035040"/>
            <a:ext cx="47091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0" b="1" i="0">
                <a:solidFill>
                  <a:srgbClr val="0A0A0A"/>
                </a:solidFill>
                <a:latin typeface="Courier New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868680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0" i="0">
                <a:solidFill>
                  <a:srgbClr val="8A8A84"/>
                </a:solidFill>
                <a:latin typeface="Arial"/>
              </a:rPr>
              <a:t>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4846320"/>
            <a:ext cx="56235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521208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8A8A84"/>
                </a:solidFill>
                <a:latin typeface="Courier New"/>
              </a:rPr>
              <a:t>공유회 1건당 발송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5760720"/>
            <a:ext cx="640080" cy="9144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6035040"/>
            <a:ext cx="47091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0" b="1" i="0">
                <a:solidFill>
                  <a:srgbClr val="0A0A0A"/>
                </a:solidFill>
                <a:latin typeface="Courier New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868680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0" i="0">
                <a:solidFill>
                  <a:srgbClr val="8A8A84"/>
                </a:solidFill>
                <a:latin typeface="Arial"/>
              </a:rPr>
              <a:t>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207240" y="4846320"/>
            <a:ext cx="56235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664440" y="521208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8A8A84"/>
                </a:solidFill>
                <a:latin typeface="Courier New"/>
              </a:rPr>
              <a:t>발송 기간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664440" y="5760720"/>
            <a:ext cx="640080" cy="9144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664440" y="6035040"/>
            <a:ext cx="47091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0" b="1" i="0">
                <a:solidFill>
                  <a:srgbClr val="0A0A0A"/>
                </a:solidFill>
                <a:latin typeface="Courier New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64440" y="868680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0" i="0">
                <a:solidFill>
                  <a:srgbClr val="8A8A84"/>
                </a:solidFill>
                <a:latin typeface="Arial"/>
              </a:rPr>
              <a:t>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§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0" y="4572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13 /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68680"/>
            <a:ext cx="16916400" cy="0"/>
          </a:xfrm>
          <a:prstGeom prst="line">
            <a:avLst/>
          </a:prstGeom>
          <a:ln w="762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38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Emily · Selfish Club · 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0" y="9738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— 13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Courier New"/>
              </a:rPr>
              <a:t>그 전에, 도구 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645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400" b="1" i="0">
                <a:solidFill>
                  <a:srgbClr val="0A0A0A"/>
                </a:solidFill>
                <a:latin typeface="Arial"/>
              </a:rPr>
              <a:t>셀피쉬가 쓰는 스택이에요.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572000"/>
            <a:ext cx="56235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84632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0A0A0A"/>
                </a:solidFill>
                <a:latin typeface="Courier New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5440680"/>
            <a:ext cx="731520" cy="9144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669280"/>
            <a:ext cx="4709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200" b="1" i="0">
                <a:solidFill>
                  <a:srgbClr val="0A0A0A"/>
                </a:solidFill>
                <a:latin typeface="Arial"/>
              </a:rPr>
              <a:t>Slack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713232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0A0A0A"/>
                </a:solidFill>
                <a:latin typeface="Courier New"/>
              </a:rPr>
              <a:t>커뮤니케이션 · 승인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7863840"/>
            <a:ext cx="4709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Arial"/>
              </a:rPr>
              <a:t>메신저이자 승인 게이트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4572000"/>
            <a:ext cx="56235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484632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0A0A0A"/>
                </a:solidFill>
                <a:latin typeface="Courier New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5440680"/>
            <a:ext cx="731520" cy="9144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5669280"/>
            <a:ext cx="4709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200" b="1" i="0">
                <a:solidFill>
                  <a:srgbClr val="0A0A0A"/>
                </a:solidFill>
                <a:latin typeface="Arial"/>
              </a:rPr>
              <a:t>Supabase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713232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0A0A0A"/>
                </a:solidFill>
                <a:latin typeface="Courier New"/>
              </a:rPr>
              <a:t>데이터베이스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7863840"/>
            <a:ext cx="4709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Arial"/>
              </a:rPr>
              <a:t>멤버·신청·일정 한 곳에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207240" y="4572000"/>
            <a:ext cx="56235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664440" y="484632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0A0A0A"/>
                </a:solidFill>
                <a:latin typeface="Courier New"/>
              </a:rPr>
              <a:t>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664440" y="5440680"/>
            <a:ext cx="731520" cy="9144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664440" y="5669280"/>
            <a:ext cx="4709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200" b="1" i="0">
                <a:solidFill>
                  <a:srgbClr val="0A0A0A"/>
                </a:solidFill>
                <a:latin typeface="Arial"/>
              </a:rPr>
              <a:t>n8n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64440" y="713232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0A0A0A"/>
                </a:solidFill>
                <a:latin typeface="Courier New"/>
              </a:rPr>
              <a:t>자동화 워크플로우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64440" y="7863840"/>
            <a:ext cx="4709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Arial"/>
              </a:rPr>
              <a:t>서버에서 24/7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§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0" y="4572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14 /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68680"/>
            <a:ext cx="16916400" cy="0"/>
          </a:xfrm>
          <a:prstGeom prst="line">
            <a:avLst/>
          </a:prstGeom>
          <a:ln w="762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38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Emily · Selfish Club · 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0" y="9738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— 14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Courier New"/>
              </a:rPr>
              <a:t>T — 0주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6916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1" i="0">
                <a:solidFill>
                  <a:srgbClr val="0A0A0A"/>
                </a:solidFill>
                <a:latin typeface="Arial"/>
              </a:rPr>
              <a:t>Claude한테 CRM 업무부터</a:t>
            </a:r>
          </a:p>
          <a:p>
            <a:pPr algn="l">
              <a:lnSpc>
                <a:spcPct val="105000"/>
              </a:lnSpc>
            </a:pPr>
            <a:r>
              <a:rPr sz="6000" b="1" i="0">
                <a:solidFill>
                  <a:srgbClr val="0A0A0A"/>
                </a:solidFill>
                <a:latin typeface="Arial"/>
              </a:rPr>
              <a:t>하나씩 설명했어요.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486400"/>
            <a:ext cx="10058400" cy="39319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8A84"/>
                </a:solidFill>
                <a:latin typeface="Courier New"/>
              </a:rPr>
              <a:t>[ CLAUDE.md · 규칙이 쌓이는 중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4535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# 셀피쉬 CRM 운영 규칙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50138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757416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## 톤앤매너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701344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- 존댓말 · 이모지 1개 이하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726948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75255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## 알림톡 타이밍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778154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- D-5 오픈 / D-3 리마인드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8037575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- D-1 확정자 / D-0 입장링크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8293607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8549639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## 타겟팅 예외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8805671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- 수신거부 자동 제외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201400" y="5486400"/>
            <a:ext cx="6400800" cy="3931920"/>
          </a:xfrm>
          <a:prstGeom prst="rect">
            <a:avLst/>
          </a:prstGeom>
          <a:solidFill>
            <a:srgbClr val="FAFAF7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21440" y="56692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A0A0A"/>
                </a:solidFill>
                <a:latin typeface="Courier New"/>
              </a:rPr>
              <a:t>TIP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521440" y="5989320"/>
            <a:ext cx="548640" cy="9144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21440" y="626364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0A0A0A"/>
                </a:solidFill>
                <a:latin typeface="Arial"/>
              </a:rPr>
              <a:t>Deep Interview?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7315200"/>
            <a:ext cx="5943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A0A0A"/>
                </a:solidFill>
                <a:latin typeface="Arial"/>
              </a:rPr>
              <a:t>Claude가 먼저 질문하게 하는 방식.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A0A0A"/>
                </a:solidFill>
                <a:latin typeface="Arial"/>
              </a:rPr>
              <a:t>내가 답하면서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A0A0A"/>
                </a:solidFill>
                <a:latin typeface="Arial"/>
              </a:rPr>
              <a:t>상황 · 예외 · 기준이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A0A0A"/>
                </a:solidFill>
                <a:latin typeface="Arial"/>
              </a:rPr>
              <a:t>저절로 드러나요.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§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0" y="4572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15 /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68680"/>
            <a:ext cx="16916400" cy="0"/>
          </a:xfrm>
          <a:prstGeom prst="line">
            <a:avLst/>
          </a:prstGeom>
          <a:ln w="762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38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Emily · Selfish Club · 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0" y="9738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— 15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Courier New"/>
              </a:rPr>
              <a:t>T — 1주 · 첫 삽질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691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0A0A0A"/>
                </a:solidFill>
                <a:latin typeface="Arial"/>
              </a:rPr>
              <a:t>노트북 덮으면 멈추는 자동화?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029200"/>
            <a:ext cx="164592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AFAF7"/>
                </a:solidFill>
                <a:latin typeface="Courier New"/>
              </a:rPr>
              <a:t>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5120640"/>
            <a:ext cx="15087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0" i="0">
                <a:solidFill>
                  <a:srgbClr val="0A0A0A"/>
                </a:solidFill>
                <a:latin typeface="Arial"/>
              </a:rPr>
              <a:t>미신청자 뽑아서, 저녁 7시에 이거 보내줘.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943600"/>
            <a:ext cx="164592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94360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AFAF7"/>
                </a:solidFill>
                <a:latin typeface="Courier New"/>
              </a:rPr>
              <a:t>Claude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6035040"/>
            <a:ext cx="15087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0" i="0">
                <a:solidFill>
                  <a:srgbClr val="0A0A0A"/>
                </a:solidFill>
                <a:latin typeface="Arial"/>
              </a:rPr>
              <a:t>네, 7시에 보낼게요.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858000"/>
            <a:ext cx="164592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85800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AFAF7"/>
                </a:solidFill>
                <a:latin typeface="Courier New"/>
              </a:rPr>
              <a:t>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6949440"/>
            <a:ext cx="15087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0" i="0">
                <a:solidFill>
                  <a:srgbClr val="0A0A0A"/>
                </a:solidFill>
                <a:latin typeface="Arial"/>
              </a:rPr>
              <a:t>…근데 저 6시에 퇴근하거든요. 노트북 끄고 가도 돼요?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7772400"/>
            <a:ext cx="164592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777240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AFAF7"/>
                </a:solidFill>
                <a:latin typeface="Courier New"/>
              </a:rPr>
              <a:t>Claude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7863840"/>
            <a:ext cx="15087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0" i="0">
                <a:solidFill>
                  <a:srgbClr val="0A0A0A"/>
                </a:solidFill>
                <a:latin typeface="Arial"/>
              </a:rPr>
              <a:t>아… 노트북이 꺼지면, 저는 못 보내요.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8961120"/>
            <a:ext cx="16916400" cy="0"/>
          </a:xfrm>
          <a:prstGeom prst="line">
            <a:avLst/>
          </a:prstGeom>
          <a:ln w="635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914400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0A0A0A"/>
                </a:solidFill>
                <a:latin typeface="Arial"/>
              </a:rPr>
              <a:t>→ 내가 없어도 돌아갈 무언가가 필요했어요.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§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0" y="4572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16 /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68680"/>
            <a:ext cx="16916400" cy="0"/>
          </a:xfrm>
          <a:prstGeom prst="line">
            <a:avLst/>
          </a:prstGeom>
          <a:ln w="762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38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Emily · Selfish Club · 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0" y="9738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— 16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Courier New"/>
              </a:rPr>
              <a:t>그래서,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6916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1" i="0">
                <a:solidFill>
                  <a:srgbClr val="0A0A0A"/>
                </a:solidFill>
                <a:latin typeface="Arial"/>
              </a:rPr>
              <a:t>만드는 건 Claude, 보내는 건 n8n.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572000"/>
            <a:ext cx="836676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846320"/>
            <a:ext cx="7452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8A8A84"/>
                </a:solidFill>
                <a:latin typeface="Courier New"/>
              </a:rPr>
              <a:t>만드는 역할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349240"/>
            <a:ext cx="7452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200" b="1" i="0">
                <a:solidFill>
                  <a:srgbClr val="0A0A0A"/>
                </a:solidFill>
                <a:latin typeface="Arial"/>
              </a:rPr>
              <a:t>Claude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6766560"/>
            <a:ext cx="640080" cy="109728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7086600"/>
            <a:ext cx="74523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0A0A0A"/>
                </a:solidFill>
                <a:latin typeface="Arial"/>
              </a:rPr>
              <a:t>알림톡 내용·조건·타이밍을 설계.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0A0A0A"/>
                </a:solidFill>
                <a:latin typeface="Arial"/>
              </a:rPr>
              <a:t>노트북에서 내가 켰을 때만 돌아요.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4572000"/>
            <a:ext cx="836676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4846320"/>
            <a:ext cx="7452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8A8A84"/>
                </a:solidFill>
                <a:latin typeface="Courier New"/>
              </a:rPr>
              <a:t>보내는 역할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5349240"/>
            <a:ext cx="7452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200" b="1" i="0">
                <a:solidFill>
                  <a:srgbClr val="0A0A0A"/>
                </a:solidFill>
                <a:latin typeface="Arial"/>
              </a:rPr>
              <a:t>n8n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0" y="6766560"/>
            <a:ext cx="640080" cy="109728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7086600"/>
            <a:ext cx="74523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0A0A0A"/>
                </a:solidFill>
                <a:latin typeface="Arial"/>
              </a:rPr>
              <a:t>설계된 알림톡을 실제로 발송.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0A0A0A"/>
                </a:solidFill>
                <a:latin typeface="Arial"/>
              </a:rPr>
              <a:t>서버에서 24시간 계속 돌아요.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§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0" y="4572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17 /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68680"/>
            <a:ext cx="16916400" cy="0"/>
          </a:xfrm>
          <a:prstGeom prst="line">
            <a:avLst/>
          </a:prstGeom>
          <a:ln w="762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38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Emily · Selfish Club · 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0" y="9738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— 17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Courier New"/>
              </a:rPr>
              <a:t>근데 또 불안했어요.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6916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200" b="1" i="0">
                <a:solidFill>
                  <a:srgbClr val="0A0A0A"/>
                </a:solidFill>
                <a:latin typeface="Arial"/>
              </a:rPr>
              <a:t>내가 먼저 확인하고 나가게.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5488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8A8A84"/>
                </a:solidFill>
                <a:latin typeface="Courier New"/>
              </a:rPr>
              <a:t>완전 자동이 무서운 이유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486400"/>
            <a:ext cx="228600" cy="73152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44068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0A0A0A"/>
                </a:solidFill>
                <a:latin typeface="Arial"/>
              </a:rPr>
              <a:t>오타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5321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Arial"/>
              </a:rPr>
              <a:t>6,800명이 한 번에 본다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6492240"/>
            <a:ext cx="228600" cy="73152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64465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0A0A0A"/>
                </a:solidFill>
                <a:latin typeface="Arial"/>
              </a:rPr>
              <a:t>링크 깨짐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537959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Arial"/>
              </a:rPr>
              <a:t>유입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7498079"/>
            <a:ext cx="228600" cy="73152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745235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0A0A0A"/>
                </a:solidFill>
                <a:latin typeface="Arial"/>
              </a:rPr>
              <a:t>타겟 실수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7543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Arial"/>
              </a:rPr>
              <a:t>신청 안 한 사람한테 '내일 봐요'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8869680"/>
            <a:ext cx="16916400" cy="7315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8869680"/>
            <a:ext cx="16916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FAFAF7"/>
                </a:solidFill>
                <a:latin typeface="Arial"/>
              </a:rPr>
              <a:t>사람이 한 번 보는 관문을 넣자  →  Slack 승인.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§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0" y="4572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18 /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68680"/>
            <a:ext cx="16916400" cy="0"/>
          </a:xfrm>
          <a:prstGeom prst="line">
            <a:avLst/>
          </a:prstGeom>
          <a:ln w="762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38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Emily · Selfish Club · 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0" y="9738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— 18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Courier New"/>
              </a:rPr>
              <a:t>그래서 이렇게 돌기 시작했어요.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645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0A0A0A"/>
                </a:solidFill>
                <a:latin typeface="Arial"/>
              </a:rPr>
              <a:t>아침 10시, 슬랙 모달이 저한테 와요.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114800"/>
            <a:ext cx="320040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2976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0A0A0A"/>
                </a:solidFill>
                <a:latin typeface="Arial"/>
              </a:rPr>
              <a:t>n8n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92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8A8A84"/>
                </a:solidFill>
                <a:latin typeface="Courier New"/>
              </a:rPr>
              <a:t>10:00 cron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4114800"/>
            <a:ext cx="320040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2976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0A0A0A"/>
                </a:solidFill>
                <a:latin typeface="Arial"/>
              </a:rPr>
              <a:t>Supabase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892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8A8A84"/>
                </a:solidFill>
                <a:latin typeface="Courier New"/>
              </a:rPr>
              <a:t>오늘 공유회 조회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4114800"/>
            <a:ext cx="3200400" cy="1280160"/>
          </a:xfrm>
          <a:prstGeom prst="rect">
            <a:avLst/>
          </a:prstGeom>
          <a:solidFill>
            <a:srgbClr val="E9ED12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2976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0A0A0A"/>
                </a:solidFill>
                <a:latin typeface="Arial"/>
              </a:rPr>
              <a:t>Slack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892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8A8A84"/>
                </a:solidFill>
                <a:latin typeface="Courier New"/>
              </a:rPr>
              <a:t>모달 도착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86200" y="4754880"/>
            <a:ext cx="640080" cy="0"/>
          </a:xfrm>
          <a:prstGeom prst="bentConnector3">
            <a:avLst/>
          </a:prstGeom>
          <a:ln w="22860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726679" y="4754880"/>
            <a:ext cx="640081" cy="0"/>
          </a:xfrm>
          <a:prstGeom prst="bentConnector3">
            <a:avLst/>
          </a:prstGeom>
          <a:ln w="22860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85800" y="6126480"/>
            <a:ext cx="1691640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7452360"/>
            <a:ext cx="1691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0" i="0">
                <a:solidFill>
                  <a:srgbClr val="8A8A84"/>
                </a:solidFill>
                <a:latin typeface="Courier New"/>
              </a:rPr>
              <a:t>[ SLACK 모달 · 실제 캡처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9509760"/>
            <a:ext cx="1645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8A8A84"/>
                </a:solidFill>
                <a:latin typeface="Arial"/>
              </a:rPr>
              <a:t>↑ 오늘 나갈 알림톡 리스트가 한꺼번에 와요. 퇴근 후 타임라인까지 미리.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§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0" y="4572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19 /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68680"/>
            <a:ext cx="16916400" cy="0"/>
          </a:xfrm>
          <a:prstGeom prst="line">
            <a:avLst/>
          </a:prstGeom>
          <a:ln w="762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38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Emily · Selfish Club · 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0" y="9738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— 19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Courier New"/>
              </a:rPr>
              <a:t>삽질 (a) — 수정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6916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0A0A0A"/>
                </a:solidFill>
                <a:latin typeface="Arial"/>
              </a:rPr>
              <a:t>발송 직전에, 시간·링크·카피가 바뀌어요.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1480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Arial"/>
              </a:rPr>
              <a:t>슬랙 승인 창 안에서 바로 고치게 — 수정 모달 3종을 만들었어요.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029200"/>
            <a:ext cx="1691640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858000"/>
            <a:ext cx="1691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Courier New"/>
              </a:rPr>
              <a:t>[ SLACK 수정 모달 · 실제 캡처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7406640"/>
            <a:ext cx="1691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시간 / 링크 / 변수(카피)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§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0" y="4572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20 /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68680"/>
            <a:ext cx="16916400" cy="0"/>
          </a:xfrm>
          <a:prstGeom prst="line">
            <a:avLst/>
          </a:prstGeom>
          <a:ln w="762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38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Emily · Selfish Club · 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0" y="9738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— 20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Courier New"/>
              </a:rPr>
              <a:t>삽질 (b) — 재설계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691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0A0A0A"/>
                </a:solidFill>
                <a:latin typeface="Arial"/>
              </a:rPr>
              <a:t>승인한 100명이,</a:t>
            </a:r>
          </a:p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0A0A0A"/>
                </a:solidFill>
                <a:latin typeface="Arial"/>
              </a:rPr>
              <a:t>발송 땐 150명이 돼있어요.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120640"/>
            <a:ext cx="822960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4924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8A8A84"/>
                </a:solidFill>
                <a:latin typeface="Courier New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80644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0A0A0A"/>
                </a:solidFill>
                <a:latin typeface="Courier New"/>
              </a:rPr>
              <a:t>오전 10시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6355080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0" i="0">
                <a:solidFill>
                  <a:srgbClr val="0A0A0A"/>
                </a:solidFill>
                <a:latin typeface="Arial"/>
              </a:rPr>
              <a:t>신청자 100명 → 승인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726948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0A0A0A"/>
                </a:solidFill>
                <a:latin typeface="Courier New"/>
              </a:rPr>
              <a:t>오후 6시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7863840"/>
            <a:ext cx="7589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A0A0A"/>
                </a:solidFill>
                <a:latin typeface="Arial"/>
              </a:rPr>
              <a:t>그대로 100명한테만 발송.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A0A0A"/>
                </a:solidFill>
                <a:latin typeface="Arial"/>
              </a:rPr>
              <a:t>그사이 신청한 50명 누락.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2600" y="5120640"/>
            <a:ext cx="8229600" cy="42062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534924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E9ED12"/>
                </a:solidFill>
                <a:latin typeface="Courier New"/>
              </a:rPr>
              <a:t>AFTER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580644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FAFAF7"/>
                </a:solidFill>
                <a:latin typeface="Courier New"/>
              </a:rPr>
              <a:t>오전 10시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6355080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0" i="0">
                <a:solidFill>
                  <a:srgbClr val="FAFAF7"/>
                </a:solidFill>
                <a:latin typeface="Arial"/>
              </a:rPr>
              <a:t>내가 승인하는 건 '발송 의도'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726948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FAFAF7"/>
                </a:solidFill>
                <a:latin typeface="Courier New"/>
              </a:rPr>
              <a:t>오후 6시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7863840"/>
            <a:ext cx="7589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FAFAF7"/>
                </a:solidFill>
                <a:latin typeface="Arial"/>
              </a:rPr>
              <a:t>발송 직전 DB 재조회 →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FAFAF7"/>
                </a:solidFill>
                <a:latin typeface="Arial"/>
              </a:rPr>
              <a:t>그 시점 신청자 전원한테.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§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0" y="4572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 i="0">
                <a:solidFill>
                  <a:srgbClr val="8A8A84"/>
                </a:solidFill>
                <a:latin typeface="Courier New"/>
              </a:rPr>
              <a:t>21 /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68680"/>
            <a:ext cx="16916400" cy="0"/>
          </a:xfrm>
          <a:prstGeom prst="line">
            <a:avLst/>
          </a:prstGeom>
          <a:ln w="762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738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Emily · Selfish Club · 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0" y="9738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— 21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8A8A84"/>
                </a:solidFill>
                <a:latin typeface="Courier New"/>
              </a:rPr>
              <a:t>그래서,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6916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400" b="1" i="0">
                <a:solidFill>
                  <a:srgbClr val="0A0A0A"/>
                </a:solidFill>
                <a:latin typeface="Arial"/>
              </a:rPr>
              <a:t>완성된 전체 플로우.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206240"/>
            <a:ext cx="283464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370831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0A0A0A"/>
                </a:solidFill>
                <a:latin typeface="Arial"/>
              </a:rPr>
              <a:t>n8n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37759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8A8A84"/>
                </a:solidFill>
                <a:latin typeface="Courier New"/>
              </a:rPr>
              <a:t>10:00 cron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4206240"/>
            <a:ext cx="283464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39" y="4370831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0A0A0A"/>
                </a:solidFill>
                <a:latin typeface="Arial"/>
              </a:rPr>
              <a:t>Supabase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4937759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8A8A84"/>
                </a:solidFill>
                <a:latin typeface="Courier New"/>
              </a:rPr>
              <a:t>오늘 오픈 조회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4206240"/>
            <a:ext cx="2834640" cy="1188720"/>
          </a:xfrm>
          <a:prstGeom prst="rect">
            <a:avLst/>
          </a:prstGeom>
          <a:solidFill>
            <a:srgbClr val="E9ED12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4370831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0A0A0A"/>
                </a:solidFill>
                <a:latin typeface="Arial"/>
              </a:rPr>
              <a:t>Slack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4937759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8A8A84"/>
                </a:solidFill>
                <a:latin typeface="Courier New"/>
              </a:rPr>
              <a:t>통합 승인 카드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61320" y="4206240"/>
            <a:ext cx="283464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61320" y="4370831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0A0A0A"/>
                </a:solidFill>
                <a:latin typeface="Arial"/>
              </a:rPr>
              <a:t>에밀리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1320" y="4937759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8A8A84"/>
                </a:solidFill>
                <a:latin typeface="Courier New"/>
              </a:rPr>
              <a:t>수정 · 승인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53160" y="4206240"/>
            <a:ext cx="283464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53160" y="4370831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0A0A0A"/>
                </a:solidFill>
                <a:latin typeface="Arial"/>
              </a:rPr>
              <a:t>n8n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53160" y="4937759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8A8A84"/>
                </a:solidFill>
                <a:latin typeface="Courier New"/>
              </a:rPr>
              <a:t>예약 대기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520440" y="4800600"/>
            <a:ext cx="457199" cy="0"/>
          </a:xfrm>
          <a:prstGeom prst="bentConnector3">
            <a:avLst/>
          </a:prstGeom>
          <a:ln w="22860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12279" y="4800600"/>
            <a:ext cx="457201" cy="0"/>
          </a:xfrm>
          <a:prstGeom prst="bentConnector3">
            <a:avLst/>
          </a:prstGeom>
          <a:ln w="22860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104120" y="4800600"/>
            <a:ext cx="457200" cy="0"/>
          </a:xfrm>
          <a:prstGeom prst="bentConnector3">
            <a:avLst/>
          </a:prstGeom>
          <a:ln w="22860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3395960" y="4800600"/>
            <a:ext cx="457200" cy="0"/>
          </a:xfrm>
          <a:prstGeom prst="bentConnector3">
            <a:avLst/>
          </a:prstGeom>
          <a:ln w="22860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5270480" y="5394959"/>
            <a:ext cx="0" cy="1188721"/>
          </a:xfrm>
          <a:prstGeom prst="bentConnector3">
            <a:avLst/>
          </a:prstGeom>
          <a:ln w="22860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3853160" y="6583680"/>
            <a:ext cx="283464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53160" y="674827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0A0A0A"/>
                </a:solidFill>
                <a:latin typeface="Arial"/>
              </a:rPr>
              <a:t>n8n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53160" y="73152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8A8A84"/>
                </a:solidFill>
                <a:latin typeface="Courier New"/>
              </a:rPr>
              <a:t>DB 재조회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61320" y="6583680"/>
            <a:ext cx="283464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61320" y="674827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0A0A0A"/>
                </a:solidFill>
                <a:latin typeface="Arial"/>
              </a:rPr>
              <a:t>Solapi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73152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8A8A84"/>
                </a:solidFill>
                <a:latin typeface="Courier New"/>
              </a:rPr>
              <a:t>알림톡 발송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9480" y="6583680"/>
            <a:ext cx="2834640" cy="1188720"/>
          </a:xfrm>
          <a:prstGeom prst="rect">
            <a:avLst/>
          </a:prstGeom>
          <a:solidFill>
            <a:srgbClr val="E9ED12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9480" y="674827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0A0A0A"/>
                </a:solidFill>
                <a:latin typeface="Arial"/>
              </a:rPr>
              <a:t>멤버 6,800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73152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8A8A84"/>
                </a:solidFill>
                <a:latin typeface="Courier New"/>
              </a:rPr>
              <a:t>수신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13395960" y="7178040"/>
            <a:ext cx="457200" cy="0"/>
          </a:xfrm>
          <a:prstGeom prst="bentConnector3">
            <a:avLst/>
          </a:prstGeom>
          <a:ln w="22860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0104120" y="7178040"/>
            <a:ext cx="457200" cy="0"/>
          </a:xfrm>
          <a:prstGeom prst="bentConnector3">
            <a:avLst/>
          </a:prstGeom>
          <a:ln w="22860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5800" y="8503920"/>
            <a:ext cx="1691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0" i="0">
                <a:solidFill>
                  <a:srgbClr val="0A0A0A"/>
                </a:solidFill>
                <a:latin typeface="Courier New"/>
              </a:rPr>
              <a:t>에밀리가 하는 건 Send 하나. 나머진 n8n이 24시간 돌려요.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9235440"/>
            <a:ext cx="2286000" cy="164592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9509760"/>
            <a:ext cx="1645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0A0A0A"/>
                </a:solidFill>
                <a:latin typeface="Arial"/>
              </a:rPr>
              <a:t>3h → 5min.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