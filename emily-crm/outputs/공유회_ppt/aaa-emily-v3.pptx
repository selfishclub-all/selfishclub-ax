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01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01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06:00 AM · SEOUL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6400" b="1" i="0">
                <a:solidFill>
                  <a:srgbClr val="0A0A0A"/>
                </a:solidFill>
                <a:latin typeface="Arial"/>
              </a:rPr>
              <a:t>매일 아침,</a:t>
            </a:r>
          </a:p>
          <a:p>
            <a:pPr algn="l">
              <a:lnSpc>
                <a:spcPct val="102000"/>
              </a:lnSpc>
            </a:pPr>
            <a:r>
              <a:rPr sz="6400" b="1" i="0">
                <a:solidFill>
                  <a:srgbClr val="0A0A0A"/>
                </a:solidFill>
                <a:latin typeface="Arial"/>
              </a:rPr>
              <a:t>AI가 알림톡을</a:t>
            </a:r>
          </a:p>
          <a:p>
            <a:pPr algn="l">
              <a:lnSpc>
                <a:spcPct val="102000"/>
              </a:lnSpc>
            </a:pPr>
            <a:r>
              <a:rPr sz="6400" b="1" i="0">
                <a:solidFill>
                  <a:srgbClr val="0A0A0A"/>
                </a:solidFill>
                <a:latin typeface="Arial"/>
              </a:rPr>
              <a:t>들고 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2194560" cy="128016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A0A0A"/>
                </a:solidFill>
                <a:latin typeface="Courier New"/>
              </a:rPr>
              <a:t>에밀리 · 셀피쉬클럽 AX CRM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AAA팀 공유회 · 2026.04.28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INTRO ·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02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02 —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05840"/>
            <a:ext cx="4389120" cy="5120640"/>
          </a:xfrm>
          <a:prstGeom prst="rect">
            <a:avLst/>
          </a:prstGeom>
          <a:noFill/>
          <a:ln w="1524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A84"/>
                </a:solidFill>
                <a:latin typeface="Courier New"/>
              </a:rPr>
              <a:t>[ PHOTO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0058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8A84"/>
                </a:solidFill>
                <a:latin typeface="Arial"/>
              </a:rPr>
              <a:t>안녕하세요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41732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0A0A0A"/>
                </a:solidFill>
                <a:latin typeface="Arial"/>
              </a:rPr>
              <a:t>에밀리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9260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0A0A"/>
                </a:solidFill>
                <a:latin typeface="Arial"/>
              </a:rPr>
              <a:t>셀피쉬클럽 AX CRM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3375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8A84"/>
                </a:solidFill>
                <a:latin typeface="Arial"/>
              </a:rPr>
              <a:t>인하우스 풀스택 마케터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572000"/>
            <a:ext cx="11430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457200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AFAF7"/>
                </a:solidFill>
                <a:latin typeface="Courier New"/>
              </a:rPr>
              <a:t>#퍼포먼스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85432" y="4572000"/>
            <a:ext cx="11430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57200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AFAF7"/>
                </a:solidFill>
                <a:latin typeface="Courier New"/>
              </a:rPr>
              <a:t>#그로스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3" y="4572000"/>
            <a:ext cx="11430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3" y="457200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AFAF7"/>
                </a:solidFill>
                <a:latin typeface="Courier New"/>
              </a:rPr>
              <a:t>#ops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17736" y="4572000"/>
            <a:ext cx="11430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6" y="457200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AFAF7"/>
                </a:solidFill>
                <a:latin typeface="Courier New"/>
              </a:rPr>
              <a:t>#효율충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33888" y="4572000"/>
            <a:ext cx="1143000" cy="4114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33888" y="4572000"/>
            <a:ext cx="1143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AFAF7"/>
                </a:solidFill>
                <a:latin typeface="Courier New"/>
              </a:rPr>
              <a:t>#데이터자동화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INTRO · AAA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03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03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8A84"/>
                </a:solidFill>
                <a:latin typeface="Arial"/>
              </a:rPr>
              <a:t>지난 6주,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0A0A0A"/>
                </a:solidFill>
                <a:latin typeface="Arial"/>
              </a:rPr>
              <a:t>AAA팀에 있었어요.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361188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A84"/>
                </a:solidFill>
                <a:latin typeface="Courier New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840480"/>
            <a:ext cx="411480" cy="6400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A0A0A"/>
                </a:solidFill>
                <a:latin typeface="Arial"/>
              </a:rPr>
              <a:t>반복에 시간을 쓰고 있어서.</a:t>
            </a:r>
          </a:p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A0A0A"/>
                </a:solidFill>
                <a:latin typeface="Arial"/>
              </a:rPr>
              <a:t>기획에 쓰고 싶었어요.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53128" y="3200400"/>
            <a:ext cx="361188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342900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A84"/>
                </a:solidFill>
                <a:latin typeface="Courier New"/>
              </a:rPr>
              <a:t>WHAT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27448" y="3840480"/>
            <a:ext cx="411480" cy="6400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4114800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A0A0A"/>
                </a:solidFill>
                <a:latin typeface="Arial"/>
              </a:rPr>
              <a:t>Claude Code로 CRM</a:t>
            </a:r>
          </a:p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A0A0A"/>
                </a:solidFill>
                <a:latin typeface="Arial"/>
              </a:rPr>
              <a:t>자동화를 직접 만들었어요.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3200400"/>
            <a:ext cx="361188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342900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A84"/>
                </a:solidFill>
                <a:latin typeface="Courier New"/>
              </a:rPr>
              <a:t>NOW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49056" y="3840480"/>
            <a:ext cx="411480" cy="6400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4114800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A0A0A"/>
                </a:solidFill>
                <a:latin typeface="Arial"/>
              </a:rPr>
              <a:t>아침 10시,</a:t>
            </a:r>
          </a:p>
          <a:p>
            <a:pPr algn="l">
              <a:lnSpc>
                <a:spcPct val="135000"/>
              </a:lnSpc>
            </a:pPr>
            <a:r>
              <a:rPr sz="1800" b="1" i="0">
                <a:solidFill>
                  <a:srgbClr val="0A0A0A"/>
                </a:solidFill>
                <a:latin typeface="Arial"/>
              </a:rPr>
              <a:t>슬랙 버튼 하나로 끝나요.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04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04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오늘 25분,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A0A"/>
                </a:solidFill>
                <a:latin typeface="Arial"/>
              </a:rPr>
              <a:t>이렇게 가요.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154679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A0A"/>
                </a:solidFill>
                <a:latin typeface="Arial"/>
              </a:rPr>
              <a:t>지난 여정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46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Arial"/>
              </a:rPr>
              <a:t>여러분이 받은 메시지는 이렇게 나가고 있어요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886200"/>
            <a:ext cx="10728655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977639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023359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A0A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114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Arial"/>
              </a:rPr>
              <a:t>자동화 구조 설계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754879"/>
            <a:ext cx="10728655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84632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89204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A0A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983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Arial"/>
              </a:rPr>
              <a:t>Harness Engine — AI에게 내 맥락 심기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5623559"/>
            <a:ext cx="10728655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57150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7607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A0A"/>
                </a:solidFill>
                <a:latin typeface="Arial"/>
              </a:rPr>
              <a:t>마무리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Arial"/>
              </a:rPr>
              <a:t>팀에서 배운 것들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6492240"/>
            <a:ext cx="10728655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05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05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한 줄로 요약하면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800" b="1" i="0">
                <a:solidFill>
                  <a:srgbClr val="0A0A0A"/>
                </a:solidFill>
                <a:latin typeface="Arial"/>
              </a:rPr>
              <a:t>AI한테</a:t>
            </a:r>
          </a:p>
          <a:p>
            <a:pPr algn="l">
              <a:lnSpc>
                <a:spcPct val="102000"/>
              </a:lnSpc>
            </a:pPr>
            <a:r>
              <a:rPr sz="8800" b="1" i="0">
                <a:solidFill>
                  <a:srgbClr val="0A0A0A"/>
                </a:solidFill>
                <a:latin typeface="Arial"/>
              </a:rPr>
              <a:t>일 잘 시키는 법.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2926080" cy="164592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8A84"/>
                </a:solidFill>
                <a:latin typeface="Arial"/>
              </a:rPr>
              <a:t>오늘 드릴 내용, 결국 이 한 줄이에요.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06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06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먼저, 질문 하나.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A0A0A"/>
                </a:solidFill>
                <a:latin typeface="Arial"/>
              </a:rPr>
              <a:t>여러분, 이거 받고 오셨죠?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361188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[ 알림톡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3840480"/>
            <a:ext cx="361188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47091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[ 인스타 배너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3840480"/>
            <a:ext cx="3611880" cy="2194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47091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[ 오카방 공지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A84"/>
                </a:solidFill>
                <a:latin typeface="Arial"/>
              </a:rPr>
              <a:t>어떤 메시지를 보고 오셨나요?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07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07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그 메시지를,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0A0A0A"/>
                </a:solidFill>
                <a:latin typeface="Arial"/>
              </a:rPr>
              <a:t>제가 보내고 있어요.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03520"/>
            <a:ext cx="2743200" cy="164592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8A84"/>
                </a:solidFill>
                <a:latin typeface="Arial"/>
              </a:rPr>
              <a:t>저는 셀피쉬클럽에서 여러분께 메시지를 보내는 CRM PM이에요.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08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08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공유회 1건이 열리면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0A0A"/>
                </a:solidFill>
                <a:latin typeface="Arial"/>
              </a:rPr>
              <a:t>채널 네 개가 동시에 나가요.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2706624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0A0A"/>
                </a:solidFill>
                <a:latin typeface="Courier New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4114800"/>
            <a:ext cx="365760" cy="6400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97680"/>
            <a:ext cx="2249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A0A"/>
                </a:solidFill>
                <a:latin typeface="Arial"/>
              </a:rPr>
              <a:t>알림톡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66360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A84"/>
                </a:solidFill>
                <a:latin typeface="Arial"/>
              </a:rPr>
              <a:t>카카오 · 템플릿 9종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9584" y="3474720"/>
            <a:ext cx="2706624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4" y="3657600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0A0A"/>
                </a:solidFill>
                <a:latin typeface="Courier New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58184" y="4114800"/>
            <a:ext cx="365760" cy="6400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8184" y="4297680"/>
            <a:ext cx="2249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A0A"/>
                </a:solidFill>
                <a:latin typeface="Arial"/>
              </a:rPr>
              <a:t>카플친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4" y="5166360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A84"/>
                </a:solidFill>
                <a:latin typeface="Arial"/>
              </a:rPr>
              <a:t>플러스친구 소식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3474720"/>
            <a:ext cx="2706624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3657600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0A0A"/>
                </a:solidFill>
                <a:latin typeface="Courier New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6248" y="4114800"/>
            <a:ext cx="365760" cy="6400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297680"/>
            <a:ext cx="2249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A0A"/>
                </a:solidFill>
                <a:latin typeface="Arial"/>
              </a:rPr>
              <a:t>채널톡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5166360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A84"/>
                </a:solidFill>
                <a:latin typeface="Arial"/>
              </a:rPr>
              <a:t>앱 내 팝업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3474720"/>
            <a:ext cx="2706624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3657600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A0A0A"/>
                </a:solidFill>
                <a:latin typeface="Courier New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54312" y="4114800"/>
            <a:ext cx="365760" cy="6400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4297680"/>
            <a:ext cx="22494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0A0A"/>
                </a:solidFill>
                <a:latin typeface="Arial"/>
              </a:rPr>
              <a:t>오카방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5166360"/>
            <a:ext cx="2249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A84"/>
                </a:solidFill>
                <a:latin typeface="Arial"/>
              </a:rPr>
              <a:t>오픈채팅 공지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09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09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근데 이거,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0A0A"/>
                </a:solidFill>
                <a:latin typeface="Arial"/>
              </a:rPr>
              <a:t>생각보다 손이 많이 가요.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8A84"/>
                </a:solidFill>
                <a:latin typeface="Arial"/>
              </a:rPr>
              <a:t>그동안 저는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A0A"/>
                </a:solidFill>
                <a:latin typeface="Arial"/>
              </a:rPr>
              <a:t>매번 손으로 DB를 뽑았어요.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2194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A0A0A"/>
                </a:solidFill>
                <a:latin typeface="Courier New"/>
              </a:rPr>
              <a:t>이전 알림톡 신청자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89204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8A8A84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39" y="4937760"/>
            <a:ext cx="2194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39" y="49377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A0A0A"/>
                </a:solidFill>
                <a:latin typeface="Courier New"/>
              </a:rPr>
              <a:t>미신청자만 추출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89204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8A8A84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4937760"/>
            <a:ext cx="21945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49377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A0A0A"/>
                </a:solidFill>
                <a:latin typeface="Courier New"/>
              </a:rPr>
              <a:t>다음 타겟 세팅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Arial"/>
              </a:rPr>
              <a:t>조건 하나 바뀌면 또, 또, 또.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10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10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그래서 AAA 6주간,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0A0A0A"/>
                </a:solidFill>
                <a:latin typeface="Arial"/>
              </a:rPr>
              <a:t>Claude Code로</a:t>
            </a:r>
          </a:p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0A0A0A"/>
                </a:solidFill>
                <a:latin typeface="Arial"/>
              </a:rPr>
              <a:t>자동화를 시작했어요.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8A84"/>
                </a:solidFill>
                <a:latin typeface="Arial"/>
              </a:rPr>
              <a:t>지금은 이래요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0A0A"/>
                </a:solidFill>
                <a:latin typeface="Arial"/>
              </a:rPr>
              <a:t>하루 3시간 걸리던 일이, 슬랙 버튼 한 번이 됐어요.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1 · 지난 여정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11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11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제 하루는 여기서 시작해요.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0A0A"/>
                </a:solidFill>
                <a:latin typeface="Arial"/>
              </a:rPr>
              <a:t>슬랙 하나로.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7315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A84"/>
                </a:solidFill>
                <a:latin typeface="Courier New"/>
              </a:rPr>
              <a:t>[ SLACK 승인 화면 · 실제 캡처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① 오전 10시 도착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34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Arial"/>
              </a:rPr>
              <a:t>오늘 나갈 메시지 통합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0" y="3337560"/>
            <a:ext cx="3291840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0" y="3474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② 수정·승인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40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Arial"/>
              </a:rPr>
              <a:t>시간·링크·카피 모달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4343400"/>
            <a:ext cx="3291840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0" y="4480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③ 예약 발송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Arial"/>
              </a:rPr>
              <a:t>Solapi로 자동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6294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↓ 어떻게 이렇게 오게 됐는지, 뒤에서 설명드릴게요.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12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12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여기서부터 본편.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005840" cy="201168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8A8A84"/>
                </a:solidFill>
                <a:latin typeface="Arial"/>
              </a:rPr>
              <a:t>Step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200" b="1" i="0">
                <a:solidFill>
                  <a:srgbClr val="0A0A0A"/>
                </a:solidFill>
                <a:latin typeface="Arial"/>
              </a:rPr>
              <a:t>자동화 구조 설계.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8A84"/>
                </a:solidFill>
                <a:latin typeface="Arial"/>
              </a:rPr>
              <a:t>노트북을 덮어도, 퇴근한 뒤에도, 메시지가 나가게.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13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13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그 전에, 도구 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0A0A"/>
                </a:solidFill>
                <a:latin typeface="Arial"/>
              </a:rPr>
              <a:t>셀피쉬가 쓰는 스택이에요.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365760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0A0A"/>
                </a:solidFill>
                <a:latin typeface="Courier New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023360"/>
            <a:ext cx="457200" cy="73152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A0A"/>
                </a:solidFill>
                <a:latin typeface="Arial"/>
              </a:rPr>
              <a:t>Slack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257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A84"/>
                </a:solidFill>
                <a:latin typeface="Arial"/>
              </a:rPr>
              <a:t>커뮤니케이션 · 승인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3291840"/>
            <a:ext cx="365760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3520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0A0A"/>
                </a:solidFill>
                <a:latin typeface="Courier New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73168" y="4023360"/>
            <a:ext cx="457200" cy="73152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42519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A0A"/>
                </a:solidFill>
                <a:latin typeface="Arial"/>
              </a:rP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257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A84"/>
                </a:solidFill>
                <a:latin typeface="Arial"/>
              </a:rPr>
              <a:t>데이터베이스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66175" y="3291840"/>
            <a:ext cx="365760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3520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0A0A"/>
                </a:solidFill>
                <a:latin typeface="Courier New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0496" y="4023360"/>
            <a:ext cx="457200" cy="73152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6" y="42519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496" y="52578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A84"/>
                </a:solidFill>
                <a:latin typeface="Arial"/>
              </a:rPr>
              <a:t>자동화 워크플로우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14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14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T — 0주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A0A"/>
                </a:solidFill>
                <a:latin typeface="Arial"/>
              </a:rPr>
              <a:t>Claude한테 상황부터 다 털어놨어요.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6583680" cy="32918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[ CLAUDE.md · 규칙이 쌓이는 중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04487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# 셀피쉬 CRM 운영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05655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3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## 톤앤매너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07991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- 존댓말 · 이모지 1개 이하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59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10327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## 알림톡 타이밍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11495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- D-5 오픈 / D-3 리마인드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12663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- D-1 확정 / D-0 입장링크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13831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4999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## 타겟팅 예외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16167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- 수신거부자 자동 제외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17335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ourier New"/>
              </a:rPr>
              <a:t>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3200400"/>
            <a:ext cx="4114800" cy="3291840"/>
          </a:xfrm>
          <a:prstGeom prst="rect">
            <a:avLst/>
          </a:prstGeom>
          <a:solidFill>
            <a:srgbClr val="FAFAF7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3383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A0A0A"/>
                </a:solidFill>
                <a:latin typeface="Courier New"/>
              </a:rPr>
              <a:t>TIP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3611880"/>
            <a:ext cx="365760" cy="73152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37947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A0A0A"/>
                </a:solidFill>
                <a:latin typeface="Arial"/>
              </a:rPr>
              <a:t>Deep Interview?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57200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0A0A"/>
                </a:solidFill>
                <a:latin typeface="Arial"/>
              </a:rPr>
              <a:t>Claude에게 먼저 묻게 하는 방식.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0A0A"/>
                </a:solidFill>
                <a:latin typeface="Arial"/>
              </a:rPr>
              <a:t>내가 답하면서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0A0A"/>
                </a:solidFill>
                <a:latin typeface="Arial"/>
              </a:rPr>
              <a:t>상황·예외·기준이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A0A0A"/>
                </a:solidFill>
                <a:latin typeface="Arial"/>
              </a:rPr>
              <a:t>저절로 드러나요.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15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15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T — 1주 · 첫 삽질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0A0A"/>
                </a:solidFill>
                <a:latin typeface="Arial"/>
              </a:rPr>
              <a:t>노트북 덮으면 멈추는 자동화?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118872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AFAF7"/>
                </a:solidFill>
                <a:latin typeface="Courier New"/>
              </a:rPr>
              <a:t>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0906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A0A0A"/>
                </a:solidFill>
                <a:latin typeface="Arial"/>
              </a:rPr>
              <a:t>미신청자 뽑아서, 저녁 7시에 이거 보내줘.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03320"/>
            <a:ext cx="118872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AFAF7"/>
                </a:solidFill>
                <a:latin typeface="Courier New"/>
              </a:rPr>
              <a:t>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764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A0A0A"/>
                </a:solidFill>
                <a:latin typeface="Arial"/>
              </a:rPr>
              <a:t>네, 7시에 보낼게요.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118872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AFAF7"/>
                </a:solidFill>
                <a:latin typeface="Courier New"/>
              </a:rPr>
              <a:t>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4622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A0A0A"/>
                </a:solidFill>
                <a:latin typeface="Arial"/>
              </a:rPr>
              <a:t>…근데 저 6시에 퇴근하거든요. 노트북 끄고 가도 돼요?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74920"/>
            <a:ext cx="1188720" cy="5029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AFAF7"/>
                </a:solidFill>
                <a:latin typeface="Courier New"/>
              </a:rPr>
              <a:t>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148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A0A0A"/>
                </a:solidFill>
                <a:latin typeface="Arial"/>
              </a:rPr>
              <a:t>아… 노트북이 꺼지면 저는 못 보내요.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5943600"/>
            <a:ext cx="10728655" cy="0"/>
          </a:xfrm>
          <a:prstGeom prst="line">
            <a:avLst/>
          </a:prstGeom>
          <a:ln w="508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A0A0A"/>
                </a:solidFill>
                <a:latin typeface="Arial"/>
              </a:rPr>
              <a:t>→ 내가 없어도 돌아갈 무언가가 필요했어요.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16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16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그래서,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A0A0A"/>
                </a:solidFill>
                <a:latin typeface="Arial"/>
              </a:rPr>
              <a:t>둘한테 각자 다른 일을 맡겼어요.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553212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A84"/>
                </a:solidFill>
                <a:latin typeface="Courier New"/>
              </a:rPr>
              <a:t>기획 ·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40480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0A0A"/>
                </a:solidFill>
                <a:latin typeface="Arial"/>
              </a:rPr>
              <a:t>Claude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754880"/>
            <a:ext cx="411480" cy="73152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83480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0A0A"/>
                </a:solidFill>
                <a:latin typeface="Arial"/>
              </a:rPr>
              <a:t>노트북에서, 내가 켰을 때만.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0A0A"/>
                </a:solidFill>
                <a:latin typeface="Arial"/>
              </a:rPr>
              <a:t>PRD·규칙·로직을 짠다.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3368" y="3200400"/>
            <a:ext cx="5532120" cy="3383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7" y="342900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A84"/>
                </a:solidFill>
                <a:latin typeface="Courier New"/>
              </a:rPr>
              <a:t>실행 · 발송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7" y="3840480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3407" y="4754880"/>
            <a:ext cx="411480" cy="73152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7" y="4983480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0A0A"/>
                </a:solidFill>
                <a:latin typeface="Arial"/>
              </a:rPr>
              <a:t>서버에서 24시간.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0A0A"/>
                </a:solidFill>
                <a:latin typeface="Arial"/>
              </a:rPr>
              <a:t>정해진 시간에 정해진 액션만.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17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17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근데 또 불안했어요.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A0A0A"/>
                </a:solidFill>
                <a:latin typeface="Arial"/>
              </a:rPr>
              <a:t>내가 한 번은 보고 나가게.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완전 자동이 무서운 이유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164592" cy="45720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7355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0A0A"/>
                </a:solidFill>
                <a:latin typeface="Arial"/>
              </a:rPr>
              <a:t>오타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Arial"/>
              </a:rPr>
              <a:t>6,800명이 한 번에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50208"/>
            <a:ext cx="164592" cy="45720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31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0A0A"/>
                </a:solidFill>
                <a:latin typeface="Arial"/>
              </a:rPr>
              <a:t>링크 깨짐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416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Arial"/>
              </a:rPr>
              <a:t>유입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08576"/>
            <a:ext cx="164592" cy="457200"/>
          </a:xfrm>
          <a:prstGeom prst="rect">
            <a:avLst/>
          </a:prstGeom>
          <a:solidFill>
            <a:srgbClr val="E9E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9028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A0A0A"/>
                </a:solidFill>
                <a:latin typeface="Arial"/>
              </a:rPr>
              <a:t>타겟 실수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0001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Arial"/>
              </a:rPr>
              <a:t>신청 안 한 사람한테 '내일 봐요'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AFAF7"/>
                </a:solidFill>
                <a:latin typeface="Arial"/>
              </a:rPr>
              <a:t>사람이 한 번 보는 관문을 넣자  →  Slack 승인.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18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18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완성된 전체 플로우.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Arial"/>
              </a:rPr>
              <a:t>아침 10시, 한 번의 클릭으로 끝나요.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10:00 cron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301752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31272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오늘 오픈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017520"/>
            <a:ext cx="1828800" cy="868680"/>
          </a:xfrm>
          <a:prstGeom prst="rect">
            <a:avLst/>
          </a:prstGeom>
          <a:solidFill>
            <a:srgbClr val="E9ED1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1272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Slack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통합 승인 카드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01752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12724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에밀리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수정 · 승인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3451860"/>
            <a:ext cx="548640" cy="0"/>
          </a:xfrm>
          <a:prstGeom prst="bentConnector3">
            <a:avLst/>
          </a:prstGeom>
          <a:ln w="1905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37760" y="3451860"/>
            <a:ext cx="548640" cy="0"/>
          </a:xfrm>
          <a:prstGeom prst="bentConnector3">
            <a:avLst/>
          </a:prstGeom>
          <a:ln w="1905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0" y="3451860"/>
            <a:ext cx="548640" cy="0"/>
          </a:xfrm>
          <a:prstGeom prst="bentConnector3">
            <a:avLst/>
          </a:prstGeom>
          <a:ln w="1905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00800" y="3886200"/>
            <a:ext cx="0" cy="1143000"/>
          </a:xfrm>
          <a:prstGeom prst="bentConnector3">
            <a:avLst/>
          </a:prstGeom>
          <a:ln w="1905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31520" y="50292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389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예약 대기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50292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51389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DB 재조회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50292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0" y="51389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Solapi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발송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5029200"/>
            <a:ext cx="1828800" cy="868680"/>
          </a:xfrm>
          <a:prstGeom prst="rect">
            <a:avLst/>
          </a:prstGeom>
          <a:solidFill>
            <a:srgbClr val="E9ED12"/>
          </a:solidFill>
          <a:ln w="1270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513892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Arial"/>
              </a:rPr>
              <a:t>멤버 6,800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수신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60320" y="5463540"/>
            <a:ext cx="548640" cy="0"/>
          </a:xfrm>
          <a:prstGeom prst="bentConnector3">
            <a:avLst/>
          </a:prstGeom>
          <a:ln w="1905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37760" y="5463540"/>
            <a:ext cx="548640" cy="0"/>
          </a:xfrm>
          <a:prstGeom prst="bentConnector3">
            <a:avLst/>
          </a:prstGeom>
          <a:ln w="1905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315200" y="5463540"/>
            <a:ext cx="548640" cy="0"/>
          </a:xfrm>
          <a:prstGeom prst="bentConnector3">
            <a:avLst/>
          </a:prstGeom>
          <a:ln w="19050">
            <a:solidFill>
              <a:srgbClr val="0A0A0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A8A84"/>
                </a:solidFill>
                <a:latin typeface="Courier New"/>
              </a:rPr>
              <a:t>에밀리가 찍는 건 Send 하나. 나머진 n8n이.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19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19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삽질 — 수정사항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Arial"/>
              </a:rPr>
              <a:t>발송 직전에, 시간·링크·카피가 바뀌어요.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8A84"/>
                </a:solidFill>
                <a:latin typeface="Arial"/>
              </a:rPr>
              <a:t>슬랙 승인 창 안에서 바로 고치게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8A84"/>
                </a:solidFill>
                <a:latin typeface="Arial"/>
              </a:rPr>
              <a:t>수정 모달 3종(시간·링크·변수)을 만들었어요.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0728655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93776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[ SLACK 수정 모달 · 실제 캡처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PART 2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743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A84"/>
                </a:solidFill>
                <a:latin typeface="Courier New"/>
              </a:rPr>
              <a:t>20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94360"/>
            <a:ext cx="11277295" cy="0"/>
          </a:xfrm>
          <a:prstGeom prst="line">
            <a:avLst/>
          </a:prstGeom>
          <a:ln w="6350">
            <a:solidFill>
              <a:srgbClr val="C9C9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Emily · Selfish Club · AAA 공유회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4"/>
                </a:solidFill>
                <a:latin typeface="Courier New"/>
              </a:rPr>
              <a:t>— 20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8A84"/>
                </a:solidFill>
                <a:latin typeface="Courier New"/>
              </a:rPr>
              <a:t>삽질 — 재설계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0A0A"/>
                </a:solidFill>
                <a:latin typeface="Arial"/>
              </a:rPr>
              <a:t>승인한 100명, 발송 땐 150명이 돼있어요.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534924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9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474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A84"/>
                </a:solidFill>
                <a:latin typeface="Courier New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Courier New"/>
              </a:rPr>
              <a:t>오전 10시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A0A0A"/>
                </a:solidFill>
                <a:latin typeface="Arial"/>
              </a:rPr>
              <a:t>신청자 100명 →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0A0A"/>
                </a:solidFill>
                <a:latin typeface="Courier New"/>
              </a:rPr>
              <a:t>오후 6시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1663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A0A0A"/>
                </a:solidFill>
                <a:latin typeface="Arial"/>
              </a:rPr>
              <a:t>그대로 100명한테 발송.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A0A0A"/>
                </a:solidFill>
                <a:latin typeface="Arial"/>
              </a:rPr>
              <a:t>그사이 신청한 50명은 누락.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91840"/>
            <a:ext cx="5349240" cy="301752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9ED12"/>
                </a:solidFill>
                <a:latin typeface="Courier New"/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AFAF7"/>
                </a:solidFill>
                <a:latin typeface="Courier New"/>
              </a:rPr>
              <a:t>오전 10시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AFAF7"/>
                </a:solidFill>
                <a:latin typeface="Arial"/>
              </a:rPr>
              <a:t>내가 승인하는 건 '발송 의도'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AFAF7"/>
                </a:solidFill>
                <a:latin typeface="Courier New"/>
              </a:rPr>
              <a:t>오후 6시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1663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AFAF7"/>
                </a:solidFill>
                <a:latin typeface="Arial"/>
              </a:rPr>
              <a:t>발송 직전 DB 재조회 →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AFAF7"/>
                </a:solidFill>
                <a:latin typeface="Arial"/>
              </a:rPr>
              <a:t>그 시점 신청자 전원한테.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